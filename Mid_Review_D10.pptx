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  <p:sldMasterId id="2147483660" r:id="rId2"/>
  </p:sldMasterIdLst>
  <p:notesMasterIdLst>
    <p:notesMasterId r:id="rId15"/>
  </p:notesMasterIdLst>
  <p:sldIdLst>
    <p:sldId id="261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5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84B3B-E091-4218-B734-7F09C964D9E9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A2D287-CFE8-45F7-B578-1940EAB6BD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116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14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09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208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007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563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883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63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456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36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290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454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517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ECE9-D645-0540-9DA0-AEC7DA1A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137256"/>
            <a:ext cx="11209376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B4E98A-97D9-4526-9E90-BA541F5B5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348662"/>
            <a:ext cx="11209376" cy="464000"/>
          </a:xfrm>
        </p:spPr>
        <p:txBody>
          <a:bodyPr>
            <a:noAutofit/>
          </a:bodyPr>
          <a:lstStyle>
            <a:lvl1pPr>
              <a:defRPr sz="32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0DA784-0993-4F43-BA98-733CB6486E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489" y="6369932"/>
            <a:ext cx="12218977" cy="5210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D41DD4-A5E8-4552-814D-0D80AF0F22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134" y="6490361"/>
            <a:ext cx="1781941" cy="31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29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3832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0DA784-0993-4F43-BA98-733CB6486E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3456"/>
            <a:ext cx="12218977" cy="52100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ECE9-D645-0540-9DA0-AEC7DA1A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1137256"/>
            <a:ext cx="11209376" cy="4908082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B4E98A-97D9-4526-9E90-BA541F5B5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" y="348662"/>
            <a:ext cx="11209376" cy="464000"/>
          </a:xfrm>
        </p:spPr>
        <p:txBody>
          <a:bodyPr>
            <a:noAutofit/>
          </a:bodyPr>
          <a:lstStyle>
            <a:lvl1pPr>
              <a:defRPr sz="3200" b="0">
                <a:solidFill>
                  <a:srgbClr val="A4123F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Here To Edit Title</a:t>
            </a: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D41DD4-A5E8-4552-814D-0D80AF0F22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134" y="6490361"/>
            <a:ext cx="1781941" cy="314840"/>
          </a:xfrm>
          <a:prstGeom prst="rect">
            <a:avLst/>
          </a:prstGeom>
        </p:spPr>
      </p:pic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44B71D63-CC8F-7D5C-C54F-0439C001E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25814"/>
            <a:ext cx="571499" cy="365125"/>
          </a:xfrm>
        </p:spPr>
        <p:txBody>
          <a:bodyPr/>
          <a:lstStyle>
            <a:lvl1pPr algn="l">
              <a:defRPr sz="1600" b="1">
                <a:solidFill>
                  <a:schemeClr val="bg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3E60720-4643-2A6C-4283-9BD3505F1DFE}"/>
              </a:ext>
            </a:extLst>
          </p:cNvPr>
          <p:cNvSpPr txBox="1">
            <a:spLocks/>
          </p:cNvSpPr>
          <p:nvPr userDrawn="1"/>
        </p:nvSpPr>
        <p:spPr>
          <a:xfrm>
            <a:off x="401263" y="6525813"/>
            <a:ext cx="15873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26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067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C7025E-4863-6F49-AD01-8A5B65B0890F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B811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350">
                <a:solidFill>
                  <a:prstClr val="white"/>
                </a:solidFill>
                <a:latin typeface="Calibri" panose="020F0502020204030204"/>
              </a:rPr>
              <a:t> 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80288CD4-7B52-C244-BAD4-BFF7D9DCE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54" y="2576466"/>
            <a:ext cx="3443174" cy="1104899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A58083-EF1A-427F-9030-DC289843A2BF}"/>
              </a:ext>
            </a:extLst>
          </p:cNvPr>
          <p:cNvCxnSpPr>
            <a:cxnSpLocks/>
          </p:cNvCxnSpPr>
          <p:nvPr/>
        </p:nvCxnSpPr>
        <p:spPr>
          <a:xfrm>
            <a:off x="4335124" y="2310508"/>
            <a:ext cx="0" cy="163681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FF19762-9449-7F8E-ED51-CE92E43F0E91}"/>
              </a:ext>
            </a:extLst>
          </p:cNvPr>
          <p:cNvSpPr txBox="1"/>
          <p:nvPr/>
        </p:nvSpPr>
        <p:spPr>
          <a:xfrm>
            <a:off x="5102634" y="2304288"/>
            <a:ext cx="6118050" cy="13716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Calibri"/>
              </a:rPr>
              <a:t>Runtime Computational Memory:</a:t>
            </a:r>
          </a:p>
          <a:p>
            <a:r>
              <a:rPr sz="1700" b="1">
                <a:solidFill>
                  <a:srgbClr val="FFFFFF"/>
                </a:solidFill>
                <a:latin typeface="Calibri"/>
              </a:rPr>
              <a:t>Understanding Emergent Behaviour through</a:t>
            </a:r>
          </a:p>
          <a:p>
            <a:r>
              <a:rPr sz="1700" b="1">
                <a:solidFill>
                  <a:srgbClr val="FFFFFF"/>
                </a:solidFill>
                <a:latin typeface="Calibri"/>
              </a:rPr>
              <a:t>KV-Cache Dynamics in Transformer Language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92AFA7-A803-1602-35C8-C21ED8130634}"/>
              </a:ext>
            </a:extLst>
          </p:cNvPr>
          <p:cNvSpPr txBox="1"/>
          <p:nvPr/>
        </p:nvSpPr>
        <p:spPr>
          <a:xfrm>
            <a:off x="5102633" y="3466450"/>
            <a:ext cx="3443171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1300" dirty="0">
                <a:solidFill>
                  <a:srgbClr val="FFFFFF"/>
                </a:solidFill>
                <a:latin typeface="Calibri"/>
              </a:rPr>
              <a:t>S Kunal Achintya Reddy    AM.SC.U4CSE23352</a:t>
            </a:r>
          </a:p>
          <a:p>
            <a:r>
              <a:rPr sz="1300" dirty="0">
                <a:solidFill>
                  <a:srgbClr val="FFFFFF"/>
                </a:solidFill>
                <a:latin typeface="Calibri"/>
              </a:rPr>
              <a:t>V Sriman Vashishta    AM.SC.U4CSE233</a:t>
            </a:r>
            <a:r>
              <a:rPr lang="en-US" sz="1300" dirty="0">
                <a:solidFill>
                  <a:srgbClr val="FFFFFF"/>
                </a:solidFill>
                <a:latin typeface="Calibri"/>
              </a:rPr>
              <a:t>6</a:t>
            </a:r>
            <a:r>
              <a:rPr sz="1300" dirty="0">
                <a:solidFill>
                  <a:srgbClr val="FFFFFF"/>
                </a:solidFill>
                <a:latin typeface="Calibri"/>
              </a:rPr>
              <a:t>8</a:t>
            </a:r>
          </a:p>
          <a:p>
            <a:r>
              <a:rPr sz="1300" dirty="0">
                <a:solidFill>
                  <a:srgbClr val="FFFFFF"/>
                </a:solidFill>
                <a:latin typeface="Calibri"/>
              </a:rPr>
              <a:t>Raaghavan M S    AM.SC.U4CSE23330</a:t>
            </a:r>
          </a:p>
          <a:p>
            <a:r>
              <a:rPr sz="1300" dirty="0">
                <a:solidFill>
                  <a:srgbClr val="FFFFFF"/>
                </a:solidFill>
                <a:latin typeface="Calibri"/>
              </a:rPr>
              <a:t>B Nithilesh    AM.SC.U4CSE23311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B1EF1F-2300-829E-6E9B-9FE25D611E45}"/>
              </a:ext>
            </a:extLst>
          </p:cNvPr>
          <p:cNvSpPr txBox="1"/>
          <p:nvPr/>
        </p:nvSpPr>
        <p:spPr>
          <a:xfrm>
            <a:off x="5102634" y="3180418"/>
            <a:ext cx="3443171" cy="3231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sz="1500" dirty="0">
                <a:solidFill>
                  <a:srgbClr val="FFFFFF"/>
                </a:solidFill>
                <a:latin typeface="Calibri"/>
              </a:rPr>
              <a:t>Guided by Dr Thara Shyam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8605FB-D7B1-40EF-3866-8637E8B7A023}"/>
              </a:ext>
            </a:extLst>
          </p:cNvPr>
          <p:cNvSpPr txBox="1"/>
          <p:nvPr/>
        </p:nvSpPr>
        <p:spPr>
          <a:xfrm>
            <a:off x="4857469" y="1489335"/>
            <a:ext cx="611805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457200"/>
            <a:r>
              <a:rPr lang="en-US" sz="3200" b="1" dirty="0">
                <a:solidFill>
                  <a:schemeClr val="bg1"/>
                </a:solidFill>
                <a:latin typeface="Arial Narrow" panose="020B0606020202030204" pitchFamily="34" charset="0"/>
                <a:cs typeface="Segoe UI"/>
              </a:rPr>
              <a:t>S7 PROJECT MID REVIEW</a:t>
            </a:r>
            <a:endParaRPr lang="en-US" sz="28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92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F80A38-C040-884E-9416-3B2C3AC04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B8114F"/>
                </a:solidFill>
              </a:rPr>
              <a:t>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A0663-8695-8CFA-B1EF-3BA1E542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36192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527048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1F24"/>
                </a:solidFill>
                <a:latin typeface="Cambria"/>
              </a:rPr>
              <a:t>Introduction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500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459736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1F24"/>
                </a:solidFill>
                <a:latin typeface="Cambria"/>
              </a:rPr>
              <a:t>Problem Definition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82696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401568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392424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1F24"/>
                </a:solidFill>
                <a:latin typeface="Cambria"/>
              </a:rPr>
              <a:t>Literature Review Summary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15384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334256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32511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1F24"/>
                </a:solidFill>
                <a:latin typeface="Cambria"/>
              </a:rPr>
              <a:t>Research Gap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14807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5266944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25780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1F24"/>
                </a:solidFill>
                <a:latin typeface="Cambria"/>
              </a:rPr>
              <a:t>Methodology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4173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1536192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1527048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1F24"/>
                </a:solidFill>
                <a:latin typeface="Cambria"/>
              </a:rPr>
              <a:t>Design / Architecture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3500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2468880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459736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1F24"/>
                </a:solidFill>
                <a:latin typeface="Cambria"/>
              </a:rPr>
              <a:t>Algorithms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282696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3401568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392424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1F24"/>
                </a:solidFill>
                <a:latin typeface="Cambria"/>
              </a:rPr>
              <a:t>Result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215384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4334256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32511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1F24"/>
                </a:solidFill>
                <a:latin typeface="Cambria"/>
              </a:rPr>
              <a:t>Project Timeline (Plan)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14807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5266944"/>
            <a:ext cx="566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525780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F1F24"/>
                </a:solidFill>
                <a:latin typeface="Cambria"/>
              </a:rPr>
              <a:t>References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6473952"/>
            <a:ext cx="82296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Runtime Computational Memory — KV-Cache Dynamics in Transformer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2683305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4CB472-A06D-9C25-FD57-AECDAC542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B8114F"/>
                </a:solidFill>
              </a:rPr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50965-C483-1697-51DB-BD1416C60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5B5F6B"/>
                </a:solidFill>
                <a:latin typeface="Calibri"/>
              </a:rPr>
              <a:t>While a language model writes, it keeps a growing scratch-memory called the Key–Value (KV) cache. We study what that memory computes.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3401568" cy="1170432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F3C7E"/>
                </a:solidFill>
                <a:latin typeface="Cambria"/>
              </a:rPr>
              <a:t>Every word written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1F24"/>
                </a:solidFill>
                <a:latin typeface="Calibri"/>
              </a:rPr>
              <a:t>goes into the KV cache and is never recomputed.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23359" y="2057400"/>
            <a:ext cx="274320" cy="310896"/>
          </a:xfrm>
          <a:prstGeom prst="rightArrow">
            <a:avLst/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34256" y="1627632"/>
            <a:ext cx="3401568" cy="1170432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17373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F3C7E"/>
                </a:solidFill>
                <a:latin typeface="Cambria"/>
              </a:rPr>
              <a:t>Every later 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121408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1F24"/>
                </a:solidFill>
                <a:latin typeface="Calibri"/>
              </a:rPr>
              <a:t>reads that cache before choosing what to say next.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90688" y="2057400"/>
            <a:ext cx="274320" cy="310896"/>
          </a:xfrm>
          <a:prstGeom prst="rightArrow">
            <a:avLst/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101583" y="1627632"/>
            <a:ext cx="3401568" cy="1170432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66175" y="17373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114F"/>
                </a:solidFill>
                <a:latin typeface="Cambria"/>
              </a:rPr>
              <a:t>So the cache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2121408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1F24"/>
                </a:solidFill>
                <a:latin typeface="Calibri"/>
              </a:rPr>
              <a:t>a second state of the model — it grows during the conversation, while the weights never change.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20040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300984"/>
            <a:ext cx="51114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8114F"/>
                </a:solidFill>
                <a:latin typeface="Cambria"/>
              </a:rPr>
              <a:t>What research does with it 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39312"/>
            <a:ext cx="511149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1F24"/>
                </a:solidFill>
                <a:latin typeface="Calibri"/>
              </a:rPr>
              <a:t>•  Treats it as an engineering cost — compress it, evict it, stream it.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1F24"/>
                </a:solidFill>
                <a:latin typeface="Calibri"/>
              </a:rPr>
              <a:t>•  Studies weights and single forward passes, not the evolving memory.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320040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79" y="3300984"/>
            <a:ext cx="51114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8114F"/>
                </a:solidFill>
                <a:latin typeface="Cambria"/>
              </a:rPr>
              <a:t>What we do with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3639312"/>
            <a:ext cx="511149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1F24"/>
                </a:solidFill>
                <a:latin typeface="Calibri"/>
              </a:rPr>
              <a:t>•  Label every entry, measure what it does to behaviour.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1F24"/>
                </a:solidFill>
                <a:latin typeface="Calibri"/>
              </a:rPr>
              <a:t>•  Edit the cache at inference time to change behaviour — no retraining.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818888"/>
            <a:ext cx="11064240" cy="1170432"/>
          </a:xfrm>
          <a:prstGeom prst="roundRect">
            <a:avLst>
              <a:gd name="adj" fmla="val 6000"/>
            </a:avLst>
          </a:prstGeom>
          <a:solidFill>
            <a:srgbClr val="7A0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937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1DDE3"/>
                </a:solidFill>
                <a:latin typeface="Cambria"/>
              </a:rPr>
              <a:t>In one 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2852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We turn the KV cache from a speed optimisation into a measurable, editable object — and use social bias as the case study to prove it matters.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6473952"/>
            <a:ext cx="82296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Runtime Computational Memory — KV-Cache Dynamics in Transformer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4233752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50633C-78AA-FC43-00EB-02E18E850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B8114F"/>
                </a:solidFill>
              </a:rPr>
              <a:t>Problem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CA07F-E0C6-2168-22BB-CC5C5905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566928" y="1051560"/>
            <a:ext cx="5440680" cy="178308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52144"/>
            <a:ext cx="51114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8114F"/>
                </a:solidFill>
                <a:latin typeface="Cambria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90472"/>
            <a:ext cx="5111496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1F24"/>
                </a:solidFill>
                <a:latin typeface="Calibri"/>
              </a:rPr>
              <a:t>•  LLMs now mediate hiring, healthcare triage, education and public services.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1F24"/>
                </a:solidFill>
                <a:latin typeface="Calibri"/>
              </a:rPr>
              <a:t>•  They still show bias, hallucinations that persist, and opinion reinforcement between agents.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1F24"/>
                </a:solidFill>
                <a:latin typeface="Calibri"/>
              </a:rPr>
              <a:t>•  Today the only fix is retraining or fine-tuning — expensive, opaque, out of reach for small deployments.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71800"/>
            <a:ext cx="5440680" cy="1783080"/>
          </a:xfrm>
          <a:prstGeom prst="roundRect">
            <a:avLst>
              <a:gd name="adj" fmla="val 6000"/>
            </a:avLst>
          </a:prstGeom>
          <a:solidFill>
            <a:srgbClr val="F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072384"/>
            <a:ext cx="51114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8114F"/>
                </a:solidFill>
                <a:latin typeface="Cambria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10712"/>
            <a:ext cx="5111496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1F24"/>
                </a:solidFill>
                <a:latin typeface="Calibri"/>
              </a:rPr>
              <a:t>•  No framework observes how runtime memory evolves over long, multi-agent conversations.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1F24"/>
                </a:solidFill>
                <a:latin typeface="Calibri"/>
              </a:rPr>
              <a:t>•  No way to attribute emergent behaviour to identifiable structures inside that memory.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1F24"/>
                </a:solidFill>
                <a:latin typeface="Calibri"/>
              </a:rPr>
              <a:t>•  No way to intervene on runtime memory alone to change behaviour.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051560"/>
            <a:ext cx="5440680" cy="370332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16128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8114F"/>
                </a:solidFill>
                <a:latin typeface="Cambria"/>
              </a:rPr>
              <a:t>Objectives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0934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655064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591056"/>
            <a:ext cx="4709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1F24"/>
                </a:solidFill>
                <a:latin typeface="Calibri"/>
              </a:rPr>
              <a:t>Build a runtime-memory instrumentation framework with full provenance (layer, head, token, turn,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23113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2276856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212848"/>
            <a:ext cx="4709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1F24"/>
                </a:solidFill>
                <a:latin typeface="Calibri"/>
              </a:rPr>
              <a:t>Detect and characterise persistent Memory Attractors in long conversations.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8529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2898648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2834640"/>
            <a:ext cx="4709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1F24"/>
                </a:solidFill>
                <a:latin typeface="Calibri"/>
              </a:rPr>
              <a:t>Analyse whether bias is localised into identifiable Bias Reservoirs.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4747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3520439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3456432"/>
            <a:ext cx="4709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1F24"/>
                </a:solidFill>
                <a:latin typeface="Calibri"/>
              </a:rPr>
              <a:t>Evaluate Memory Contagion and phase-transition behaviour across agents.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0965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4142232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4078224"/>
            <a:ext cx="4709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1F24"/>
                </a:solidFill>
                <a:latin typeface="Calibri"/>
              </a:rPr>
              <a:t>Demonstrate causal control through KV-cache-only interventions.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919472"/>
            <a:ext cx="11064240" cy="1024128"/>
          </a:xfrm>
          <a:prstGeom prst="roundRect">
            <a:avLst>
              <a:gd name="adj" fmla="val 6000"/>
            </a:avLst>
          </a:prstGeom>
          <a:solidFill>
            <a:srgbClr val="7A0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029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1DDE3"/>
                </a:solidFill>
                <a:latin typeface="Cambria"/>
              </a:rPr>
              <a:t>Scope (kept feasible for the academic year)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35838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Open-weight models of 7–8B parameters, controlled two-agent conversations, social bias as the primary case study. No model weights are ever modified.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6473952"/>
            <a:ext cx="82296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Runtime Computational Memory — KV-Cache Dynamics in Transformer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3841927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C12170-7753-6C30-FD90-35534D766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B8114F"/>
                </a:solidFill>
              </a:rPr>
              <a:t>Literature Review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4AB00-F0AD-D460-C98C-E16794A70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097280"/>
          <a:ext cx="11064240" cy="47183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64008" marR="64008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marL="64008" marR="64008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Key contribution</a:t>
                      </a:r>
                    </a:p>
                  </a:txBody>
                  <a:tcPr marL="64008" marR="64008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Demerit / limitation</a:t>
                      </a:r>
                    </a:p>
                  </a:txBody>
                  <a:tcPr marL="64008" marR="64008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Dataset used</a:t>
                      </a:r>
                    </a:p>
                  </a:txBody>
                  <a:tcPr marL="64008" marR="64008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Evaluation metrics</a:t>
                      </a:r>
                    </a:p>
                  </a:txBody>
                  <a:tcPr marL="64008" marR="64008" marT="27432" marB="27432" anchor="ctr">
                    <a:solidFill>
                      <a:srgbClr val="B81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Xiao et al.,
StreamingLLM (ICLR)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Initial-token “attention sinks” must be retained for stable long-context decoding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Sinks studied only for efficiency; their semantic content and behavioural effect are never analysed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PG-19, long-text
streaming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Perplexity,
throughput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Zhang et al.,
H2O (NeurIPS)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A small set of “heavy-hitter” KV entries dominates attention and can guide eviction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Dominant entries identified purely for compression; no link to bias, hallucination or reasoning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OpenBookQA,
XSUM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Accuracy, ROUGE,
memory saved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Oren et al., Multi-State
RNNs (EMNLP)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Reframes decoder-only LLMs as RNNs whose hidden state is the KV cache; TOVA policy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Conceptual / efficiency focus; does not track how the state evolves semantically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Long-range LM
benchmarks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Perplexity,
cache size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Todd et al., Function
Vectors (ICLR)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Compact, causally effective task vectors exist in activations and can be transplanted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Operates within single forward passes; no temporal KV evolution, no multi-turn effects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In-context learning
task suites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Task accuracy,
causal effect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Du et al., Multiagent
Debate (ICML)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Interaction between LLM agents systematically shifts individual agents’ answers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Measures text-level outcomes only; offers no memory-level mechanism and ignores bias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GSM8K, MMLU,
biography tasks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1F24"/>
                          </a:solidFill>
                          <a:latin typeface="Calibri"/>
                        </a:rPr>
                        <a:t>Accuracy,
factuality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96188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1">
                <a:solidFill>
                  <a:srgbClr val="5B5F6B"/>
                </a:solidFill>
                <a:latin typeface="Calibri"/>
              </a:rPr>
              <a:t>All five establish that runtime memory is highly structured — none asks what those structures compute or how they shape behaviour.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6473952"/>
            <a:ext cx="82296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Runtime Computational Memory — KV-Cache Dynamics in Transformer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2822922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BB3914-566F-EFD5-8CCC-E666C3507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B8114F"/>
                </a:solidFill>
              </a:rPr>
              <a:t>Research Gap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3B24C-F522-2F81-772E-A90036EA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5B5F6B"/>
                </a:solidFill>
                <a:latin typeface="Calibri"/>
              </a:rPr>
              <a:t>Across the reviewed work the KV cache is treated only as an efficiency problem.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5440680" cy="1170432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51114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B8114F"/>
                </a:solidFill>
                <a:latin typeface="Cambria"/>
              </a:rPr>
              <a:t>Efficiency, not meaning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11149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1F24"/>
                </a:solidFill>
                <a:latin typeface="Calibri"/>
              </a:rPr>
              <a:t>Sinks [1] and heavy hitters [2] show runtime memory is structured — but nobody asks what those entries compute.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481328"/>
            <a:ext cx="5440680" cy="1170432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81912"/>
            <a:ext cx="51114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B8114F"/>
                </a:solidFill>
                <a:latin typeface="Cambria"/>
              </a:rPr>
              <a:t>Static, not temporal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511149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1F24"/>
                </a:solidFill>
                <a:latin typeface="Calibri"/>
              </a:rPr>
              <a:t>Function vectors [4] find causal structure inside one forward pass, never in the evolving KV state of a long conversation.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79776"/>
            <a:ext cx="5440680" cy="1170432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51114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B8114F"/>
                </a:solidFill>
                <a:latin typeface="Cambria"/>
              </a:rPr>
              <a:t>Text, not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18688"/>
            <a:ext cx="511149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1F24"/>
                </a:solidFill>
                <a:latin typeface="Calibri"/>
              </a:rPr>
              <a:t>Multi-agent studies [5] show interaction changes outputs, but measure only surface text — no memory-level mechanism.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779776"/>
            <a:ext cx="5440680" cy="1170432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2880360"/>
            <a:ext cx="51114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B8114F"/>
                </a:solidFill>
                <a:latin typeface="Cambria"/>
              </a:rPr>
              <a:t>No provenance, no intervention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18688"/>
            <a:ext cx="511149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F1F24"/>
                </a:solidFill>
                <a:latin typeface="Calibri"/>
              </a:rPr>
              <a:t>No existing work labels KV entries by layer/head/turn/agent, or edits the cache alone to change behaviour.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160520"/>
            <a:ext cx="11064240" cy="1783080"/>
          </a:xfrm>
          <a:prstGeom prst="roundRect">
            <a:avLst>
              <a:gd name="adj" fmla="val 6000"/>
            </a:avLst>
          </a:prstGeom>
          <a:solidFill>
            <a:srgbClr val="7A0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27939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1DDE3"/>
                </a:solidFill>
                <a:latin typeface="Cambria"/>
              </a:rPr>
              <a:t>The gap this project fills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45152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We elevate runtime memory to a first-class research object: instrument the KV cache with full provenance, test for persistent Memory Attractors and localised Bias Reservoirs, trace cross-agent Memory Contagion, and intervene causally — without any parameter update.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321808"/>
            <a:ext cx="2542032" cy="384048"/>
          </a:xfrm>
          <a:prstGeom prst="roundRect">
            <a:avLst>
              <a:gd name="adj" fmla="val 40000"/>
            </a:avLst>
          </a:prstGeom>
          <a:solidFill>
            <a:srgbClr val="9A0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394960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Provenance-labelled KV traces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5321808"/>
            <a:ext cx="2542032" cy="384048"/>
          </a:xfrm>
          <a:prstGeom prst="roundRect">
            <a:avLst>
              <a:gd name="adj" fmla="val 40000"/>
            </a:avLst>
          </a:prstGeom>
          <a:solidFill>
            <a:srgbClr val="9A0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66160" y="5394960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Attractors &amp; Bias Reservoirs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5321808"/>
            <a:ext cx="2542032" cy="384048"/>
          </a:xfrm>
          <a:prstGeom prst="roundRect">
            <a:avLst>
              <a:gd name="adj" fmla="val 40000"/>
            </a:avLst>
          </a:prstGeom>
          <a:solidFill>
            <a:srgbClr val="9A0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5394960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Memory Contagion across agents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5321808"/>
            <a:ext cx="2542032" cy="384048"/>
          </a:xfrm>
          <a:prstGeom prst="roundRect">
            <a:avLst>
              <a:gd name="adj" fmla="val 40000"/>
            </a:avLst>
          </a:prstGeom>
          <a:solidFill>
            <a:srgbClr val="9A0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0" y="5394960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KV-only causal interventions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6473952"/>
            <a:ext cx="82296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Runtime Computational Memory — KV-Cache Dynamics in Transformer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351316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8260AE-BF8E-7474-399B-2567246C2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B8114F"/>
                </a:solidFill>
              </a:rPr>
              <a:t>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4BFA5-43C0-8D1F-D8B9-ED3FD7F32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078992"/>
          <a:ext cx="11064240" cy="51023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3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64008" marR="64008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we use</a:t>
                      </a:r>
                    </a:p>
                  </a:txBody>
                  <a:tcPr marL="64008" marR="64008" marT="27432" marB="27432" anchor="ctr">
                    <a:solidFill>
                      <a:srgbClr val="B81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24"/>
                          </a:solidFill>
                          <a:latin typeface="Calibri"/>
                        </a:rPr>
                        <a:t>Dataset — consumed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24"/>
                          </a:solidFill>
                          <a:latin typeface="Calibri"/>
                        </a:rPr>
                        <a:t>BBQ (58,492 QA items, 9 bias categories), StereoSet, CrowS-Pairs (1,508 pairs) for bias; TruthfulQA (817 questions) for hallucination persistence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24"/>
                          </a:solidFill>
                          <a:latin typeface="Calibri"/>
                        </a:rPr>
                        <a:t>Dataset — produced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24"/>
                          </a:solidFill>
                          <a:latin typeface="Calibri"/>
                        </a:rPr>
                        <a:t>Our own deliverable: provenance-labelled runtime-memory traces (135 conversations this run) — SQLite index + Parquet fact table + 5 % raw-KV sample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24"/>
                          </a:solidFill>
                          <a:latin typeface="Calibri"/>
                        </a:rPr>
                        <a:t>Models (object of study)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24"/>
                          </a:solidFill>
                          <a:latin typeface="Calibri"/>
                        </a:rPr>
                        <a:t>Frozen open-weight LLMs: Llama-3-8B-Instruct, Mistral-7B-Instruct-v0.3, Qwen2.5-7B. Weights are never trained; only the cache is observed and edited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24"/>
                          </a:solidFill>
                          <a:latin typeface="Calibri"/>
                        </a:rPr>
                        <a:t>Current platform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24"/>
                          </a:solidFill>
                          <a:latin typeface="Calibri"/>
                        </a:rPr>
                        <a:t>CPU-only validation testbed: a 4-layer GQA + RoPE reference transformer trained on a corpus with a known, planted bias structure, so every metric has a checkable answer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24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24"/>
                          </a:solidFill>
                          <a:latin typeface="Calibri"/>
                        </a:rPr>
                        <a:t>Now: Windows 11 laptop, 6-thread CPU, no GPU (full run = 11 min).   Target: NVIDIA A100 40/80 GB (min. 16 GB VRAM, 4-bit) via SLURM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24"/>
                          </a:solidFill>
                          <a:latin typeface="Calibri"/>
                        </a:rPr>
                        <a:t>Technology stack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24"/>
                          </a:solidFill>
                          <a:latin typeface="Calibri"/>
                        </a:rPr>
                        <a:t>Python 3.11 · PyTorch · Hugging Face Transformers (DynamicCache) · NumPy · SciPy · scikit-learn · NetworkX · pandas · PyArrow/Parquet · SQLite/DuckDB · Plotly · Matplotlib · FastAPI · pytest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24"/>
                          </a:solidFill>
                          <a:latin typeface="Calibri"/>
                        </a:rPr>
                        <a:t>Methods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24"/>
                          </a:solidFill>
                          <a:latin typeface="Calibri"/>
                        </a:rPr>
                        <a:t>Four stages — Instrument (provenance + attention taps) → Measure (attractor metrics) → Attribute (probes, contagion, phase fit) → Intervene (ablate / perturb / gate on replay)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24"/>
                          </a:solidFill>
                          <a:latin typeface="Calibri"/>
                        </a:rPr>
                        <a:t>Evaluation metrics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1F24"/>
                          </a:solidFill>
                          <a:latin typeface="Calibri"/>
                        </a:rPr>
                        <a:t>Bias index B ∈ [−1,1] (pseudo-log-likelihood preference) · probe AUC with BH-FDR · memory contagion MC · critical pressure π_c · average causal effect ACE · ΔPerplexity · Δaccuracy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011680" y="6473952"/>
            <a:ext cx="82296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Runtime Computational Memory — KV-Cache Dynamics in Transformer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916485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8678CB-C5C5-BE8F-8CA5-690E8466B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B8114F"/>
                </a:solidFill>
              </a:rPr>
              <a:t>Design /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54E39-B1CC-4003-BC5C-15F05FCC6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5B5F6B"/>
                </a:solidFill>
                <a:latin typeface="Calibri"/>
              </a:rPr>
              <a:t>Four stages; the model's weights stay frozen throughout — only the KV cache is read and written.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44752"/>
            <a:ext cx="2578608" cy="157276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6928" y="1444752"/>
            <a:ext cx="2578608" cy="384048"/>
          </a:xfrm>
          <a:prstGeom prst="roundRect">
            <a:avLst>
              <a:gd name="adj" fmla="val 6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mbria"/>
              </a:rPr>
              <a:t>1  INSTRUMENT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38528"/>
            <a:ext cx="2304288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TracingCache stamps every KV write: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layer · head · position · turn · agent · channel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AttentionTap reduces per-head attention online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0400" y="2084831"/>
            <a:ext cx="201168" cy="310896"/>
          </a:xfrm>
          <a:prstGeom prst="rightArrow">
            <a:avLst/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29000" y="1444752"/>
            <a:ext cx="2578608" cy="157276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29000" y="1444752"/>
            <a:ext cx="2578608" cy="384048"/>
          </a:xfrm>
          <a:prstGeom prst="roundRect">
            <a:avLst>
              <a:gd name="adj" fmla="val 6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517904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mbria"/>
              </a:rPr>
              <a:t>2 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938528"/>
            <a:ext cx="2304288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Reuse R(t) · Lifetime L(t)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Persistence P(t) · PageRank c(t)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→ Memory Attractors (sinks held out)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62472" y="2084831"/>
            <a:ext cx="201168" cy="310896"/>
          </a:xfrm>
          <a:prstGeom prst="rightArrow">
            <a:avLst/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91072" y="1444752"/>
            <a:ext cx="2578608" cy="157276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91072" y="1444752"/>
            <a:ext cx="2578608" cy="384048"/>
          </a:xfrm>
          <a:prstGeom prst="roundRect">
            <a:avLst>
              <a:gd name="adj" fmla="val 6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91072" y="1517904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mbria"/>
              </a:rPr>
              <a:t>3  ATTRIBUTE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1938528"/>
            <a:ext cx="2304288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Per-head probes on attractor values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→ Bias Reservoirs (BH-FDR)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3 arms → Contagion; π-sweep → phase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24544" y="2084831"/>
            <a:ext cx="201168" cy="310896"/>
          </a:xfrm>
          <a:prstGeom prst="rightArrow">
            <a:avLst/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53144" y="1444752"/>
            <a:ext cx="2578608" cy="157276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53144" y="1444752"/>
            <a:ext cx="2578608" cy="384048"/>
          </a:xfrm>
          <a:prstGeom prst="roundRect">
            <a:avLst>
              <a:gd name="adj" fmla="val 6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53144" y="1517904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mbria"/>
              </a:rPr>
              <a:t>4  INTERVENE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1938528"/>
            <a:ext cx="2304288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Ablate / Perturb / Gate the cache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Seed-matched replay → ACE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Negative controls + coherence budget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566928" y="3154680"/>
            <a:ext cx="10607040" cy="402336"/>
          </a:xfrm>
          <a:prstGeom prst="leftArrow">
            <a:avLst/>
          </a:prstGeom>
          <a:solidFill>
            <a:srgbClr val="7A0D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CLOSED LOOP — the intervention writes back into the cache and the conversation is replayed under the same seed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785615"/>
            <a:ext cx="11064240" cy="384048"/>
          </a:xfrm>
          <a:prstGeom prst="roundRect">
            <a:avLst>
              <a:gd name="adj" fmla="val 6000"/>
            </a:avLst>
          </a:prstGeom>
          <a:solidFill>
            <a:srgbClr val="9A0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85876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NOVELTY / INNOVATION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279392"/>
            <a:ext cx="3547872" cy="1572768"/>
          </a:xfrm>
          <a:prstGeom prst="roundRect">
            <a:avLst>
              <a:gd name="adj" fmla="val 6000"/>
            </a:avLst>
          </a:prstGeom>
          <a:solidFill>
            <a:srgbClr val="FA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4389120"/>
            <a:ext cx="32552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B8114F"/>
                </a:solidFill>
                <a:latin typeface="Cambria"/>
              </a:rPr>
              <a:t>Provenance-stamped cache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754880"/>
            <a:ext cx="32552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1F24"/>
                </a:solidFill>
                <a:latin typeface="Calibri"/>
              </a:rPr>
              <a:t>Every KV entry knows which layer, head, turn, agent and channel produced it — no prior work records this, and without it nothing can be attributed.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4279392"/>
            <a:ext cx="3547872" cy="1572768"/>
          </a:xfrm>
          <a:prstGeom prst="roundRect">
            <a:avLst>
              <a:gd name="adj" fmla="val 6000"/>
            </a:avLst>
          </a:prstGeom>
          <a:solidFill>
            <a:srgbClr val="FA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43984" y="4389120"/>
            <a:ext cx="32552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B8114F"/>
                </a:solidFill>
                <a:latin typeface="Cambria"/>
              </a:rPr>
              <a:t>Contagion as a residual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3984" y="4754880"/>
            <a:ext cx="32552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1F24"/>
                </a:solidFill>
                <a:latin typeface="Calibri"/>
              </a:rPr>
              <a:t>Shared-memory minus text-only isolates the component of bias transfer that exchanged text cannot explain — a definition that can fail.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8431" y="4279392"/>
            <a:ext cx="3547872" cy="1572768"/>
          </a:xfrm>
          <a:prstGeom prst="roundRect">
            <a:avLst>
              <a:gd name="adj" fmla="val 6000"/>
            </a:avLst>
          </a:prstGeom>
          <a:solidFill>
            <a:srgbClr val="FA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74736" y="4389120"/>
            <a:ext cx="325526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B8114F"/>
                </a:solidFill>
                <a:latin typeface="Cambria"/>
              </a:rPr>
              <a:t>Causality without training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736" y="4754880"/>
            <a:ext cx="3255264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1F24"/>
                </a:solidFill>
                <a:latin typeface="Calibri"/>
              </a:rPr>
              <a:t>Ablate / perturb / gate during a seed-matched replay: behaviour changes at inference cost, with zero parameter updates.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6473952"/>
            <a:ext cx="82296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Runtime Computational Memory — KV-Cache Dynamics in Transformer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806364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2E7AB6-E2BB-CD94-1D96-075336726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B8114F"/>
                </a:solidFill>
              </a:rPr>
              <a:t>Algorithms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1B617-330A-1E3A-E2ED-7DBD9CBD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5B5F6B"/>
                </a:solidFill>
                <a:latin typeface="Calibri"/>
              </a:rPr>
              <a:t>Three algorithms from the design document; the only thing ever trained is a tiny diagnostic probe, never the model under study.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89888"/>
            <a:ext cx="3547872" cy="210312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90472"/>
            <a:ext cx="32186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B8114F"/>
                </a:solidFill>
                <a:latin typeface="Cambria"/>
              </a:rPr>
              <a:t>Algorithm 1 — Instrumented conversation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65376"/>
            <a:ext cx="3218688" cy="151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Seed context from a bias probe; fix arm and pressure π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Each turn: generate under instrumentation, log provenance + attention mass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Score turn: bias index B, hallucination flag, coherence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Shared-KV arm: graft peer segment, RoPE re-indexed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89888"/>
            <a:ext cx="3547872" cy="210312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2272" y="1490472"/>
            <a:ext cx="32186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B8114F"/>
                </a:solidFill>
                <a:latin typeface="Cambria"/>
              </a:rPr>
              <a:t>Algorithm 2 — Attractors &amp; reservoirs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865376"/>
            <a:ext cx="3218688" cy="151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Compute R(t), L(t), P(t) and PageRank c(t)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Attractor if z_R &gt; z*  ∧  L &gt; λT  ∧  P &gt; p*  (sinks t ≤ 4 held out)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Pool value vectors at attractors per (layer, head)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S(ℓ,h) = AUC × measured ablation effect; keep BH-FDR survivors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1389888"/>
            <a:ext cx="3547872" cy="210312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3" y="1490472"/>
            <a:ext cx="32186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B8114F"/>
                </a:solidFill>
                <a:latin typeface="Cambria"/>
              </a:rPr>
              <a:t>Algorithm 3 — Causal intervention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3" y="1865376"/>
            <a:ext cx="3218688" cy="1517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Replay the same (arm, π, seed) with and without the KV edit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ablate: logit → −∞ · perturb: v ← v − ε(ŵᵀv)ŵ · gate: α × g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ACE = E[B | do(S)] − E[B] by paired replay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1F24"/>
                </a:solidFill>
                <a:latin typeface="Calibri"/>
              </a:rPr>
              <a:t>•  Accept only if ACE beats zero and both controls, inside the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6118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B8114F"/>
                </a:solidFill>
                <a:latin typeface="Cambria"/>
              </a:rPr>
              <a:t>Training and testing steps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05072"/>
            <a:ext cx="5486400" cy="585216"/>
          </a:xfrm>
          <a:prstGeom prst="roundRect">
            <a:avLst>
              <a:gd name="adj" fmla="val 6000"/>
            </a:avLst>
          </a:prstGeom>
          <a:solidFill>
            <a:srgbClr val="FA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4050791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2F3C7E"/>
                </a:solidFill>
                <a:latin typeface="Calibri"/>
              </a:rPr>
              <a:t>Train (once, offline)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050791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1F24"/>
                </a:solidFill>
                <a:latin typeface="Calibri"/>
              </a:rPr>
              <a:t>Reference transformer is fitted on the controlled corpus — 1,500 steps, batch 16, AdamW, one-cycle LR. Then frozen.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663440"/>
            <a:ext cx="5486400" cy="585216"/>
          </a:xfrm>
          <a:prstGeom prst="roundRect">
            <a:avLst>
              <a:gd name="adj" fmla="val 6000"/>
            </a:avLst>
          </a:prstGeom>
          <a:solidFill>
            <a:srgbClr val="FA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4709159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2F3C7E"/>
                </a:solidFill>
                <a:latin typeface="Calibri"/>
              </a:rPr>
              <a:t>Test / 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709159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1F24"/>
                </a:solidFill>
                <a:latin typeface="Calibri"/>
              </a:rPr>
              <a:t>135 conversations over 3 arms × 9 pressure levels × 5 seeds. Probes are 5-fold cross-validated; nothing is fitted on test conversations.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21808"/>
            <a:ext cx="5486400" cy="585216"/>
          </a:xfrm>
          <a:prstGeom prst="roundRect">
            <a:avLst>
              <a:gd name="adj" fmla="val 6000"/>
            </a:avLst>
          </a:prstGeom>
          <a:solidFill>
            <a:srgbClr val="FA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536752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2F3C7E"/>
                </a:solidFill>
                <a:latin typeface="Calibri"/>
              </a:rP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5367528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1F1F24"/>
                </a:solidFill>
                <a:latin typeface="Calibri"/>
              </a:rPr>
              <a:t>20 unit tests on synthetic caches with analytically known structure; PageRank checked against NetworkX; replay determinism asserted.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611880"/>
            <a:ext cx="53218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B8114F"/>
                </a:solidFill>
                <a:latin typeface="Cambria"/>
              </a:rPr>
              <a:t>Hyperparameters used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309360" y="4005072"/>
          <a:ext cx="5321808" cy="2258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64008" marR="64008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64008" marR="64008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L="64008" marR="64008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64008" marR="64008" marT="27432" marB="27432" anchor="ctr">
                    <a:solidFill>
                      <a:srgbClr val="B81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Attractor z*, λ, p*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1.0, 0.30, 0.10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Probe folds / FDR α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5, 0.05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Top-k, window w, κ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8, 8, 1.0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Perturbation ε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PageRank damping 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Gate factor 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Sink class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t ≤ 4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Coherence budget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ΔPPL ≤ 5 %, ΔAcc ≤ 2 pt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Pressure levels π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0 → 1 in 9 steps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Seeds / turns per conv.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5 / 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Reference model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4 layers, 8 q-heads,
2 KV heads, d = 128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Bootstrap samples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24"/>
                          </a:solidFill>
                          <a:latin typeface="Calibri"/>
                        </a:rPr>
                        <a:t>2,000 (CI) / 400 (fit)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011680" y="6473952"/>
            <a:ext cx="82296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Runtime Computational Memory — KV-Cache Dynamics in Transformer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3412474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325E74-F795-C0F9-3A2C-B5BA1881C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B8114F"/>
                </a:solidFill>
              </a:rPr>
              <a:t>Result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4A97C-2EA8-BF5C-75BA-97D4C3FF6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4" descr="fig1_bias_vs_pres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97280"/>
            <a:ext cx="5074920" cy="33304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526280"/>
            <a:ext cx="50749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5B5F6B"/>
                </a:solidFill>
                <a:latin typeface="Calibri"/>
              </a:rPr>
              <a:t>Receiver bias vs pressure π. Grey = no contact (the model's built-in bias). Red = shared memory: rises 0.341 → 0.495 although the receiver never saw a single biased sentence.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0448" y="1060704"/>
            <a:ext cx="5760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B8114F"/>
                </a:solidFill>
                <a:latin typeface="Cambria"/>
              </a:rPr>
              <a:t>Quantitative results (this run, 135 conversations)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70448" y="1389888"/>
          <a:ext cx="5760719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Measured quantity</a:t>
                      </a:r>
                    </a:p>
                  </a:txBody>
                  <a:tcPr marL="64008" marR="64008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64008" marR="64008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Test / basis</a:t>
                      </a:r>
                    </a:p>
                  </a:txBody>
                  <a:tcPr marL="64008" marR="64008" marT="27432" marB="27432" anchor="ctr">
                    <a:solidFill>
                      <a:srgbClr val="B81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24"/>
                          </a:solidFill>
                          <a:latin typeface="Calibri"/>
                        </a:rPr>
                        <a:t>Memory contagion MC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8114F"/>
                          </a:solidFill>
                          <a:latin typeface="Calibri"/>
                        </a:rPr>
                        <a:t>+0.186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24"/>
                          </a:solidFill>
                          <a:latin typeface="Calibri"/>
                        </a:rPr>
                        <a:t>95 % CI [+0.034, +0.340]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24"/>
                          </a:solidFill>
                          <a:latin typeface="Calibri"/>
                        </a:rPr>
                        <a:t>Text contagion TC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24"/>
                          </a:solidFill>
                          <a:latin typeface="Calibri"/>
                        </a:rPr>
                        <a:t>-0.125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24"/>
                          </a:solidFill>
                          <a:latin typeface="Calibri"/>
                        </a:rPr>
                        <a:t>MC positive at all 9 pressure levels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24"/>
                          </a:solidFill>
                          <a:latin typeface="Calibri"/>
                        </a:rPr>
                        <a:t>Novel attractors / conv.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24"/>
                          </a:solidFill>
                          <a:latin typeface="Calibri"/>
                        </a:rPr>
                        <a:t>2.51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24"/>
                          </a:solidFill>
                          <a:latin typeface="Calibri"/>
                        </a:rPr>
                        <a:t>vs 0.29 text-only; sinks held out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24"/>
                          </a:solidFill>
                          <a:latin typeface="Calibri"/>
                        </a:rPr>
                        <a:t>Best Bias-Reservoir head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24"/>
                          </a:solidFill>
                          <a:latin typeface="Calibri"/>
                        </a:rPr>
                        <a:t>AUC 0.922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24"/>
                          </a:solidFill>
                          <a:latin typeface="Calibri"/>
                        </a:rPr>
                        <a:t>5-fold CV probe, q = 0.024 (BH-FDR)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24"/>
                          </a:solidFill>
                          <a:latin typeface="Calibri"/>
                        </a:rPr>
                        <a:t>Causal effect (ablation)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8114F"/>
                          </a:solidFill>
                          <a:latin typeface="Calibri"/>
                        </a:rPr>
                        <a:t>-0.102  (20.3 % ↓)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24"/>
                          </a:solidFill>
                          <a:latin typeface="Calibri"/>
                        </a:rPr>
                        <a:t>p &lt; 0.001 vs 0; beats both controls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24"/>
                          </a:solidFill>
                          <a:latin typeface="Calibri"/>
                        </a:rPr>
                        <a:t>Coherence budget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C0392B"/>
                          </a:solidFill>
                          <a:latin typeface="Calibri"/>
                        </a:rPr>
                        <a:t>ΔPPL -2.5 %,  ΔAcc -6.7 pt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24"/>
                          </a:solidFill>
                          <a:latin typeface="Calibri"/>
                        </a:rPr>
                        <a:t>REJECTED — over the 2-point budget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70448" y="3968496"/>
            <a:ext cx="5760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B8114F"/>
                </a:solidFill>
                <a:latin typeface="Cambria"/>
              </a:rPr>
              <a:t>Comparison with existing work (SOTA)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870448" y="4297680"/>
          <a:ext cx="5760720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64008" marR="64008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StreamingLLM / H2O / TOVA</a:t>
                      </a:r>
                    </a:p>
                  </a:txBody>
                  <a:tcPr marL="64008" marR="64008" marT="27432" marB="27432" anchor="ctr">
                    <a:solidFill>
                      <a:srgbClr val="B811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This work</a:t>
                      </a:r>
                    </a:p>
                  </a:txBody>
                  <a:tcPr marL="64008" marR="64008" marT="27432" marB="27432" anchor="ctr">
                    <a:solidFill>
                      <a:srgbClr val="B81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24"/>
                          </a:solidFill>
                          <a:latin typeface="Calibri"/>
                        </a:rPr>
                        <a:t>Role of the KV cache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24"/>
                          </a:solidFill>
                          <a:latin typeface="Calibri"/>
                        </a:rPr>
                        <a:t>Efficiency: compress, evict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1F24"/>
                          </a:solidFill>
                          <a:latin typeface="Calibri"/>
                        </a:rPr>
                        <a:t>Object of study: measure &amp; edit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24"/>
                          </a:solidFill>
                          <a:latin typeface="Calibri"/>
                        </a:rPr>
                        <a:t>Provenance per entry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24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1F24"/>
                          </a:solidFill>
                          <a:latin typeface="Calibri"/>
                        </a:rPr>
                        <a:t>layer · head · turn · agent · channel</a:t>
                      </a:r>
                    </a:p>
                  </a:txBody>
                  <a:tcPr marL="64008" marR="64008" marT="27432" marB="27432" anchor="ctr">
                    <a:solidFill>
                      <a:srgbClr val="FA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24"/>
                          </a:solidFill>
                          <a:latin typeface="Calibri"/>
                        </a:rPr>
                        <a:t>Behavioural claim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24"/>
                          </a:solidFill>
                          <a:latin typeface="Calibri"/>
                        </a:rPr>
                        <a:t>Perplexity preserved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F1F24"/>
                          </a:solidFill>
                          <a:latin typeface="Calibri"/>
                        </a:rPr>
                        <a:t>Bias moved 20.3 % causally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011680" y="6473952"/>
            <a:ext cx="82296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Runtime Computational Memory — KV-Cache Dynamics in Transformer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2911321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B20097-9570-C07B-EC8E-2723AA671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B8114F"/>
                </a:solidFill>
              </a:rPr>
              <a:t>Project Timeline (Plan)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B69D5-F527-5AE4-40E8-8D2918093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566928" y="1325880"/>
            <a:ext cx="2578608" cy="370332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325880"/>
            <a:ext cx="2578608" cy="420624"/>
          </a:xfrm>
          <a:prstGeom prst="roundRect">
            <a:avLst>
              <a:gd name="adj" fmla="val 6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399032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mbria"/>
              </a:rPr>
              <a:t>S6 —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92224"/>
            <a:ext cx="25786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5B5F6B"/>
                </a:solidFill>
                <a:latin typeface="Calibri"/>
              </a:rPr>
              <a:t>Feb – Apr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21408"/>
            <a:ext cx="2340864" cy="274320"/>
          </a:xfrm>
          <a:prstGeom prst="roundRect">
            <a:avLst>
              <a:gd name="adj" fmla="val 50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48839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2E7D4F"/>
                </a:solidFill>
                <a:latin typeface="Calibri"/>
              </a:rPr>
              <a:t>✓  Problem domain identified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05456"/>
            <a:ext cx="2340864" cy="274320"/>
          </a:xfrm>
          <a:prstGeom prst="roundRect">
            <a:avLst>
              <a:gd name="adj" fmla="val 50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532887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2E7D4F"/>
                </a:solidFill>
                <a:latin typeface="Calibri"/>
              </a:rPr>
              <a:t>✓  Literature survey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89503"/>
            <a:ext cx="2340864" cy="274320"/>
          </a:xfrm>
          <a:prstGeom prst="roundRect">
            <a:avLst>
              <a:gd name="adj" fmla="val 50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916935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2E7D4F"/>
                </a:solidFill>
                <a:latin typeface="Calibri"/>
              </a:rPr>
              <a:t>✓  Baseline implementation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82112" y="2926080"/>
            <a:ext cx="164592" cy="274320"/>
          </a:xfrm>
          <a:prstGeom prst="rightArrow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83280" y="1325880"/>
            <a:ext cx="2578608" cy="370332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383280" y="1325880"/>
            <a:ext cx="2578608" cy="420624"/>
          </a:xfrm>
          <a:prstGeom prst="roundRect">
            <a:avLst>
              <a:gd name="adj" fmla="val 6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0" y="1399032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mbria"/>
              </a:rPr>
              <a:t>S7 — Submissions 1 &amp;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1792224"/>
            <a:ext cx="25786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5B5F6B"/>
                </a:solidFill>
                <a:latin typeface="Calibri"/>
              </a:rPr>
              <a:t>Jul – Aug 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02152" y="2121408"/>
            <a:ext cx="2340864" cy="274320"/>
          </a:xfrm>
          <a:prstGeom prst="roundRect">
            <a:avLst>
              <a:gd name="adj" fmla="val 50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02152" y="2148839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2E7D4F"/>
                </a:solidFill>
                <a:latin typeface="Calibri"/>
              </a:rPr>
              <a:t>✓  Comprehensive survey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02152" y="2505456"/>
            <a:ext cx="2340864" cy="274320"/>
          </a:xfrm>
          <a:prstGeom prst="roundRect">
            <a:avLst>
              <a:gd name="adj" fmla="val 50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02152" y="2532887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2E7D4F"/>
                </a:solidFill>
                <a:latin typeface="Calibri"/>
              </a:rPr>
              <a:t>✓  Research gap + objectives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02152" y="2889503"/>
            <a:ext cx="2340864" cy="274320"/>
          </a:xfrm>
          <a:prstGeom prst="roundRect">
            <a:avLst>
              <a:gd name="adj" fmla="val 50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02152" y="2916935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2E7D4F"/>
                </a:solidFill>
                <a:latin typeface="Calibri"/>
              </a:rPr>
              <a:t>✓  System design &amp; architecture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98464" y="2926080"/>
            <a:ext cx="164592" cy="274320"/>
          </a:xfrm>
          <a:prstGeom prst="rightArrow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99632" y="1325880"/>
            <a:ext cx="2578608" cy="3703320"/>
          </a:xfrm>
          <a:prstGeom prst="roundRect">
            <a:avLst>
              <a:gd name="adj" fmla="val 6000"/>
            </a:avLst>
          </a:prstGeom>
          <a:solidFill>
            <a:srgbClr val="FF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199632" y="1325880"/>
            <a:ext cx="2578608" cy="420624"/>
          </a:xfrm>
          <a:prstGeom prst="roundRect">
            <a:avLst>
              <a:gd name="adj" fmla="val 6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99632" y="1399032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mbria"/>
              </a:rPr>
              <a:t>S7 — Mid review (now)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1792224"/>
            <a:ext cx="25786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5B5F6B"/>
                </a:solidFill>
                <a:latin typeface="Calibri"/>
              </a:rPr>
              <a:t>Sep – Dec 2026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18504" y="2121408"/>
            <a:ext cx="2340864" cy="274320"/>
          </a:xfrm>
          <a:prstGeom prst="roundRect">
            <a:avLst>
              <a:gd name="adj" fmla="val 50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18504" y="2148839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2E7D4F"/>
                </a:solidFill>
                <a:latin typeface="Calibri"/>
              </a:rPr>
              <a:t>✓  Prototype: all 4 modules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18504" y="2505456"/>
            <a:ext cx="2340864" cy="274320"/>
          </a:xfrm>
          <a:prstGeom prst="roundRect">
            <a:avLst>
              <a:gd name="adj" fmla="val 50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18504" y="2532887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2E7D4F"/>
                </a:solidFill>
                <a:latin typeface="Calibri"/>
              </a:rPr>
              <a:t>✓  20 unit tests passing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18504" y="2889503"/>
            <a:ext cx="2340864" cy="274320"/>
          </a:xfrm>
          <a:prstGeom prst="roundRect">
            <a:avLst>
              <a:gd name="adj" fmla="val 50000"/>
            </a:avLst>
          </a:prstGeom>
          <a:solidFill>
            <a:srgbClr val="E3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18504" y="2916935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2E7D4F"/>
                </a:solidFill>
                <a:latin typeface="Calibri"/>
              </a:rPr>
              <a:t>✓  First full run: 135 conv.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18504" y="3273552"/>
            <a:ext cx="2340864" cy="274320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18504" y="3300984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B8860B"/>
                </a:solidFill>
                <a:latin typeface="Calibri"/>
              </a:rPr>
              <a:t>▶  Module integration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18504" y="3657600"/>
            <a:ext cx="2340864" cy="274320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18504" y="3685032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B8860B"/>
                </a:solidFill>
                <a:latin typeface="Calibri"/>
              </a:rPr>
              <a:t>▶  GPU testing &amp; validation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8814816" y="2926080"/>
            <a:ext cx="164592" cy="274320"/>
          </a:xfrm>
          <a:prstGeom prst="rightArrow">
            <a:avLst/>
          </a:prstGeom>
          <a:solidFill>
            <a:srgbClr val="8A9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015984" y="1325880"/>
            <a:ext cx="2578608" cy="370332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015984" y="1325880"/>
            <a:ext cx="2578608" cy="420624"/>
          </a:xfrm>
          <a:prstGeom prst="roundRect">
            <a:avLst>
              <a:gd name="adj" fmla="val 6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15984" y="1399032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mbria"/>
              </a:rPr>
              <a:t>S8 — Completion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15984" y="1792224"/>
            <a:ext cx="257860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5B5F6B"/>
                </a:solidFill>
                <a:latin typeface="Calibri"/>
              </a:rPr>
              <a:t>Jan – Apr 2027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34856" y="2121408"/>
            <a:ext cx="2340864" cy="274320"/>
          </a:xfrm>
          <a:prstGeom prst="roundRect">
            <a:avLst>
              <a:gd name="adj" fmla="val 50000"/>
            </a:avLst>
          </a:prstGeom>
          <a:solidFill>
            <a:srgbClr val="FB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34856" y="2148839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C0392B"/>
                </a:solidFill>
                <a:latin typeface="Calibri"/>
              </a:rPr>
              <a:t>✗  3-model GPU sweep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34856" y="2505456"/>
            <a:ext cx="2340864" cy="274320"/>
          </a:xfrm>
          <a:prstGeom prst="roundRect">
            <a:avLst>
              <a:gd name="adj" fmla="val 50000"/>
            </a:avLst>
          </a:prstGeom>
          <a:solidFill>
            <a:srgbClr val="FB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34856" y="2532887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C0392B"/>
                </a:solidFill>
                <a:latin typeface="Calibri"/>
              </a:rPr>
              <a:t>✗  Web dashboard release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34856" y="2889503"/>
            <a:ext cx="2340864" cy="274320"/>
          </a:xfrm>
          <a:prstGeom prst="roundRect">
            <a:avLst>
              <a:gd name="adj" fmla="val 50000"/>
            </a:avLst>
          </a:prstGeom>
          <a:solidFill>
            <a:srgbClr val="FB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34856" y="2916935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C0392B"/>
                </a:solidFill>
                <a:latin typeface="Calibri"/>
              </a:rPr>
              <a:t>✗  Trace dataset + toolkit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34856" y="3273552"/>
            <a:ext cx="2340864" cy="274320"/>
          </a:xfrm>
          <a:prstGeom prst="roundRect">
            <a:avLst>
              <a:gd name="adj" fmla="val 50000"/>
            </a:avLst>
          </a:prstGeom>
          <a:solidFill>
            <a:srgbClr val="FB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134856" y="3300984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C0392B"/>
                </a:solidFill>
                <a:latin typeface="Calibri"/>
              </a:rPr>
              <a:t>✗  Paper submission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34856" y="3657600"/>
            <a:ext cx="2340864" cy="274320"/>
          </a:xfrm>
          <a:prstGeom prst="roundRect">
            <a:avLst>
              <a:gd name="adj" fmla="val 50000"/>
            </a:avLst>
          </a:prstGeom>
          <a:solidFill>
            <a:srgbClr val="FB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134856" y="3685032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C0392B"/>
                </a:solidFill>
                <a:latin typeface="Calibri"/>
              </a:rPr>
              <a:t>✗  Dissertation &amp; viva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99632" y="5102352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B8860B"/>
                </a:solidFill>
                <a:latin typeface="Calibri"/>
              </a:rPr>
              <a:t>▲  WE ARE HERE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6928" y="5440680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1520" y="5541264"/>
            <a:ext cx="51114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8114F"/>
                </a:solidFill>
                <a:latin typeface="Cambria"/>
              </a:rPr>
              <a:t>Current status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5751576"/>
            <a:ext cx="5111496" cy="237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F1F24"/>
                </a:solidFill>
                <a:latin typeface="Calibri"/>
              </a:rPr>
              <a:t>All four modules implemented and tested end-to-end on CPU; contagion result positive, causal machinery working and validated.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90488" y="5440680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355079" y="5541264"/>
            <a:ext cx="51114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8114F"/>
                </a:solidFill>
                <a:latin typeface="Cambria"/>
              </a:rPr>
              <a:t>Immediate next step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55079" y="5751576"/>
            <a:ext cx="5111496" cy="237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F1F24"/>
                </a:solidFill>
                <a:latin typeface="Calibri"/>
              </a:rPr>
              <a:t>Move to GPU and re-run the identical pipeline on Llama-3-8B, Mistral-7B and Qwen2.5-7B — one config flag (backend: hf).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11680" y="6473952"/>
            <a:ext cx="82296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Runtime Computational Memory — KV-Cache Dynamics in Transformer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380990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6B3C2A-EBF1-950A-D765-B4B567371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B8114F"/>
                </a:solidFill>
              </a:rPr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7873F-F900-8517-16FC-114857163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566928" y="109728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17957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11556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1F24"/>
                </a:solidFill>
                <a:latin typeface="Calibri"/>
              </a:rPr>
              <a:t>G. Xiao, Y. Tian, B. Chen, S. Han and M. Lewis, “Efficient streaming language models with attention sinks,” in Proc. Int. Conf. Learning Representations (ICLR), 2024.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0078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[2]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1907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1F24"/>
                </a:solidFill>
                <a:latin typeface="Calibri"/>
              </a:rPr>
              <a:t>Z. Zhang et al., “H2O: Heavy-hitter oracle for efficient generative inference of large language models,” in Advances in Neural Information Processing Systems (NeurIPS), vol. 36, 2023.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0428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2386584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[3]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22576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1F24"/>
                </a:solidFill>
                <a:latin typeface="Calibri"/>
              </a:rPr>
              <a:t>M. Oren, M. Hassid, N. Yarden, Y. Adi and R. Schwartz, “Transformers are multi-state RNNs,” in Proc. Conf. Empirical Methods in Natural Language Processing (EMNLP), 2024, pp. 18724–18741.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907791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2990087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[4]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26079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1F24"/>
                </a:solidFill>
                <a:latin typeface="Calibri"/>
              </a:rPr>
              <a:t>E. Todd, M. L. Li, A. S. Sharma, A. Mueller, B. C. Wallace and D. Bau, “Function vectors in large language models,” in Proc. Int. Conf. Learning Representations (ICLR), 2024.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11296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593591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[5]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29584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1F24"/>
                </a:solidFill>
                <a:latin typeface="Calibri"/>
              </a:rPr>
              <a:t>Y. Du, S. Li, A. Torralba, J. B. Tenenbaum and I. Mordatch, “Improving factuality and reasoning in language models through multiagent debate,” in Proc. 41st Int. Conf. Machine Learning (ICML), PMLR vol. 235, 2024, pp. 11733–11763.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11480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19709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[6]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133087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1F24"/>
                </a:solidFill>
                <a:latin typeface="Calibri"/>
              </a:rPr>
              <a:t>I. O. Gallegos et al., “Bias and fairness in large language models: A survey,” Computational Linguistics, vol. 50, no. 3, pp. 1097–1179, 2024.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1830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480060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[7]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7365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1F24"/>
                </a:solidFill>
                <a:latin typeface="Calibri"/>
              </a:rPr>
              <a:t>A. Parrish et al., “BBQ: A hand-built bias benchmark for question answering,” in Findings of the Association for Computational Linguistics: ACL, 2022, pp. 2086–2105.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32180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B81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5404104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[8]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340096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F1F24"/>
                </a:solidFill>
                <a:latin typeface="Calibri"/>
              </a:rPr>
              <a:t>S. Lin, J. Hilton and O. Evans, “TruthfulQA: Measuring how models mimic human falsehoods,” in Proc. 60th Annu. Meeting Assoc. Computational Linguistics (ACL), 2022, pp. 3214–3252.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6473952"/>
            <a:ext cx="82296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Runtime Computational Memory — KV-Cache Dynamics in Transformer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506729678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nalogousFromLightSeed_2SEEDS">
      <a:dk1>
        <a:srgbClr val="000000"/>
      </a:dk1>
      <a:lt1>
        <a:srgbClr val="FFFFFF"/>
      </a:lt1>
      <a:dk2>
        <a:srgbClr val="243741"/>
      </a:dk2>
      <a:lt2>
        <a:srgbClr val="E2E5E8"/>
      </a:lt2>
      <a:accent1>
        <a:srgbClr val="BB9D7E"/>
      </a:accent1>
      <a:accent2>
        <a:srgbClr val="C59791"/>
      </a:accent2>
      <a:accent3>
        <a:srgbClr val="A5A27B"/>
      </a:accent3>
      <a:accent4>
        <a:srgbClr val="74ADA7"/>
      </a:accent4>
      <a:accent5>
        <a:srgbClr val="7EA7BB"/>
      </a:accent5>
      <a:accent6>
        <a:srgbClr val="7E8DBB"/>
      </a:accent6>
      <a:hlink>
        <a:srgbClr val="6184A9"/>
      </a:hlink>
      <a:folHlink>
        <a:srgbClr val="7F7F7F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2142</TotalTime>
  <Words>2709</Words>
  <Application>Microsoft Office PowerPoint</Application>
  <PresentationFormat>Widescreen</PresentationFormat>
  <Paragraphs>327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Batang</vt:lpstr>
      <vt:lpstr>Aptos</vt:lpstr>
      <vt:lpstr>Aptos Display</vt:lpstr>
      <vt:lpstr>Arial</vt:lpstr>
      <vt:lpstr>Arial Narrow</vt:lpstr>
      <vt:lpstr>Avenir Next LT Pro Light</vt:lpstr>
      <vt:lpstr>Calibri</vt:lpstr>
      <vt:lpstr>Cambria</vt:lpstr>
      <vt:lpstr>Georgia</vt:lpstr>
      <vt:lpstr>AlignmentVTI</vt:lpstr>
      <vt:lpstr>office theme</vt:lpstr>
      <vt:lpstr>PowerPoint Presentation</vt:lpstr>
      <vt:lpstr>Outline</vt:lpstr>
      <vt:lpstr>Introduction</vt:lpstr>
      <vt:lpstr>Problem Definition</vt:lpstr>
      <vt:lpstr>Literature Review Summary</vt:lpstr>
      <vt:lpstr>Research Gap</vt:lpstr>
      <vt:lpstr>Methodology</vt:lpstr>
      <vt:lpstr>Design / Architecture</vt:lpstr>
      <vt:lpstr>Algorithms</vt:lpstr>
      <vt:lpstr>Result Analysis</vt:lpstr>
      <vt:lpstr>Project Timeline (Plan)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Sunitha EV</dc:creator>
  <cp:lastModifiedBy>Sudhakar Mylapore</cp:lastModifiedBy>
  <cp:revision>493</cp:revision>
  <dcterms:created xsi:type="dcterms:W3CDTF">2025-02-06T04:27:38Z</dcterms:created>
  <dcterms:modified xsi:type="dcterms:W3CDTF">2026-09-14T10:16:57Z</dcterms:modified>
</cp:coreProperties>
</file>