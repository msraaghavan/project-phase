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3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4.xml" ContentType="application/vnd.openxmlformats-officedocument.drawingml.chart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1F24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1F1F24"/>
                </a:solidFill>
                <a:latin typeface="Arial"/>
              </a:rPr>
              <a:t>Attractors per conversation by memory arm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novel attractors / conversation</c:v>
                </c:pt>
              </c:strCache>
            </c:strRef>
          </c:tx>
          <c:spPr>
            <a:solidFill>
              <a:srgbClr val="B3123F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F1F24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shared-kv</c:v>
                </c:pt>
                <c:pt idx="1">
                  <c:v>text-only</c:v>
                </c:pt>
                <c:pt idx="2">
                  <c:v>isolated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2.5099999999999998</c:v>
                </c:pt>
                <c:pt idx="1">
                  <c:v>0.28999999999999998</c:v>
                </c:pt>
                <c:pt idx="2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D36-4443-BA57-F21641896C4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sink attractors / conversation</c:v>
                </c:pt>
              </c:strCache>
            </c:strRef>
          </c:tx>
          <c:spPr>
            <a:solidFill>
              <a:srgbClr val="9AA0A6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F1F24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shared-kv</c:v>
                </c:pt>
                <c:pt idx="1">
                  <c:v>text-only</c:v>
                </c:pt>
                <c:pt idx="2">
                  <c:v>isolated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0.78</c:v>
                </c:pt>
                <c:pt idx="1">
                  <c:v>1.1599999999999999</c:v>
                </c:pt>
                <c:pt idx="2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D36-4443-BA57-F21641896C4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5F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6E6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5F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1F24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1F1F24"/>
                </a:solidFill>
                <a:latin typeface="Arial"/>
              </a:rPr>
              <a:t>Which tokens the novel attractors sit on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2F3C7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F1F24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.</c:v>
                </c:pt>
                <c:pt idx="1">
                  <c:v>g3b</c:v>
                </c:pt>
                <c:pt idx="2">
                  <c:v>and</c:v>
                </c:pt>
                <c:pt idx="3">
                  <c:v>one</c:v>
                </c:pt>
                <c:pt idx="4">
                  <c:v>g0b</c:v>
                </c:pt>
                <c:pt idx="5">
                  <c:v>g1b</c:v>
                </c:pt>
                <c:pt idx="6">
                  <c:v>answer</c:v>
                </c:pt>
                <c:pt idx="7">
                  <c:v>neg1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97</c:v>
                </c:pt>
                <c:pt idx="1">
                  <c:v>17</c:v>
                </c:pt>
                <c:pt idx="2">
                  <c:v>14</c:v>
                </c:pt>
                <c:pt idx="3">
                  <c:v>12</c:v>
                </c:pt>
                <c:pt idx="4">
                  <c:v>9</c:v>
                </c:pt>
                <c:pt idx="5">
                  <c:v>9</c:v>
                </c:pt>
                <c:pt idx="6">
                  <c:v>6</c:v>
                </c:pt>
                <c:pt idx="7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111-4206-89B1-AB9AEF6DA5B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5F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6E6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5F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1F24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1F1F24"/>
                </a:solidFill>
                <a:latin typeface="Arial"/>
              </a:rPr>
              <a:t>Receiver bias index vs pressure π, by memory arm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shared-kv</c:v>
                </c:pt>
              </c:strCache>
            </c:strRef>
          </c:tx>
          <c:spPr>
            <a:ln w="31750" cap="flat">
              <a:solidFill>
                <a:srgbClr val="B3123F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rgbClr val="B3123F"/>
              </a:solidFill>
              <a:ln w="9525" cap="flat">
                <a:solidFill>
                  <a:srgbClr val="B3123F"/>
                </a:solidFill>
                <a:prstDash val="solid"/>
                <a:round/>
              </a:ln>
              <a:effectLst/>
            </c:spPr>
          </c:marker>
          <c:cat>
            <c:strRef>
              <c:f>Sheet1!$A$2:$A$10</c:f>
              <c:strCache>
                <c:ptCount val="9"/>
                <c:pt idx="0">
                  <c:v>0.000</c:v>
                </c:pt>
                <c:pt idx="1">
                  <c:v>0.125</c:v>
                </c:pt>
                <c:pt idx="2">
                  <c:v>0.250</c:v>
                </c:pt>
                <c:pt idx="3">
                  <c:v>0.375</c:v>
                </c:pt>
                <c:pt idx="4">
                  <c:v>0.500</c:v>
                </c:pt>
                <c:pt idx="5">
                  <c:v>0.625</c:v>
                </c:pt>
                <c:pt idx="6">
                  <c:v>0.750</c:v>
                </c:pt>
                <c:pt idx="7">
                  <c:v>0.875</c:v>
                </c:pt>
                <c:pt idx="8">
                  <c:v>1.000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0.34129999999999999</c:v>
                </c:pt>
                <c:pt idx="1">
                  <c:v>0.37819999999999998</c:v>
                </c:pt>
                <c:pt idx="2">
                  <c:v>0.3906</c:v>
                </c:pt>
                <c:pt idx="3">
                  <c:v>0.40329999999999999</c:v>
                </c:pt>
                <c:pt idx="4">
                  <c:v>0.39829999999999999</c:v>
                </c:pt>
                <c:pt idx="5">
                  <c:v>0.48060000000000003</c:v>
                </c:pt>
                <c:pt idx="6">
                  <c:v>0.49340000000000001</c:v>
                </c:pt>
                <c:pt idx="7">
                  <c:v>0.51549999999999996</c:v>
                </c:pt>
                <c:pt idx="8">
                  <c:v>0.49530000000000002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04B-40C0-BC27-6BD4FB9A08B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text-only</c:v>
                </c:pt>
              </c:strCache>
            </c:strRef>
          </c:tx>
          <c:spPr>
            <a:ln w="31750" cap="flat">
              <a:solidFill>
                <a:srgbClr val="2F3C7E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rgbClr val="2F3C7E"/>
              </a:solidFill>
              <a:ln w="9525" cap="flat">
                <a:solidFill>
                  <a:srgbClr val="2F3C7E"/>
                </a:solidFill>
                <a:prstDash val="solid"/>
                <a:round/>
              </a:ln>
              <a:effectLst/>
            </c:spPr>
          </c:marker>
          <c:cat>
            <c:strRef>
              <c:f>Sheet1!$A$2:$A$10</c:f>
              <c:strCache>
                <c:ptCount val="9"/>
                <c:pt idx="0">
                  <c:v>0.000</c:v>
                </c:pt>
                <c:pt idx="1">
                  <c:v>0.125</c:v>
                </c:pt>
                <c:pt idx="2">
                  <c:v>0.250</c:v>
                </c:pt>
                <c:pt idx="3">
                  <c:v>0.375</c:v>
                </c:pt>
                <c:pt idx="4">
                  <c:v>0.500</c:v>
                </c:pt>
                <c:pt idx="5">
                  <c:v>0.625</c:v>
                </c:pt>
                <c:pt idx="6">
                  <c:v>0.750</c:v>
                </c:pt>
                <c:pt idx="7">
                  <c:v>0.875</c:v>
                </c:pt>
                <c:pt idx="8">
                  <c:v>1.000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0.2172</c:v>
                </c:pt>
                <c:pt idx="1">
                  <c:v>0.19889999999999999</c:v>
                </c:pt>
                <c:pt idx="2">
                  <c:v>0.18590000000000001</c:v>
                </c:pt>
                <c:pt idx="3">
                  <c:v>0.35460000000000003</c:v>
                </c:pt>
                <c:pt idx="4">
                  <c:v>0.23530000000000001</c:v>
                </c:pt>
                <c:pt idx="5">
                  <c:v>0.2515</c:v>
                </c:pt>
                <c:pt idx="6">
                  <c:v>0.2525</c:v>
                </c:pt>
                <c:pt idx="7">
                  <c:v>0.26340000000000002</c:v>
                </c:pt>
                <c:pt idx="8">
                  <c:v>0.26469999999999999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04B-40C0-BC27-6BD4FB9A08B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isolated</c:v>
                </c:pt>
              </c:strCache>
            </c:strRef>
          </c:tx>
          <c:spPr>
            <a:ln w="31750" cap="flat">
              <a:solidFill>
                <a:srgbClr val="9AA0A6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rgbClr val="9AA0A6"/>
              </a:solidFill>
              <a:ln w="9525" cap="flat">
                <a:solidFill>
                  <a:srgbClr val="9AA0A6"/>
                </a:solidFill>
                <a:prstDash val="solid"/>
                <a:round/>
              </a:ln>
              <a:effectLst/>
            </c:spPr>
          </c:marker>
          <c:cat>
            <c:strRef>
              <c:f>Sheet1!$A$2:$A$10</c:f>
              <c:strCache>
                <c:ptCount val="9"/>
                <c:pt idx="0">
                  <c:v>0.000</c:v>
                </c:pt>
                <c:pt idx="1">
                  <c:v>0.125</c:v>
                </c:pt>
                <c:pt idx="2">
                  <c:v>0.250</c:v>
                </c:pt>
                <c:pt idx="3">
                  <c:v>0.375</c:v>
                </c:pt>
                <c:pt idx="4">
                  <c:v>0.500</c:v>
                </c:pt>
                <c:pt idx="5">
                  <c:v>0.625</c:v>
                </c:pt>
                <c:pt idx="6">
                  <c:v>0.750</c:v>
                </c:pt>
                <c:pt idx="7">
                  <c:v>0.875</c:v>
                </c:pt>
                <c:pt idx="8">
                  <c:v>1.000</c:v>
                </c:pt>
              </c:strCache>
            </c: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0.37180000000000002</c:v>
                </c:pt>
                <c:pt idx="1">
                  <c:v>0.37180000000000002</c:v>
                </c:pt>
                <c:pt idx="2">
                  <c:v>0.37180000000000002</c:v>
                </c:pt>
                <c:pt idx="3">
                  <c:v>0.37180000000000002</c:v>
                </c:pt>
                <c:pt idx="4">
                  <c:v>0.37180000000000002</c:v>
                </c:pt>
                <c:pt idx="5">
                  <c:v>0.37180000000000002</c:v>
                </c:pt>
                <c:pt idx="6">
                  <c:v>0.37180000000000002</c:v>
                </c:pt>
                <c:pt idx="7">
                  <c:v>0.37180000000000002</c:v>
                </c:pt>
                <c:pt idx="8">
                  <c:v>0.37180000000000002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F04B-40C0-BC27-6BD4FB9A08B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sz="1000" b="0" i="0" u="none" strike="noStrike">
                    <a:solidFill>
                      <a:srgbClr val="000000"/>
                    </a:solidFill>
                    <a:latin typeface="Arial"/>
                  </a:rPr>
                  <a:t>semantic pressure </a:t>
                </a:r>
                <a:r>
                  <a:rPr lang="el-GR" sz="1000" b="0" i="0" u="none" strike="noStrike">
                    <a:solidFill>
                      <a:srgbClr val="000000"/>
                    </a:solidFill>
                    <a:latin typeface="Arial"/>
                  </a:rPr>
                  <a:t>π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5F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6E6E6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sz="1000" b="0" i="0" u="none" strike="noStrike">
                    <a:solidFill>
                      <a:srgbClr val="000000"/>
                    </a:solidFill>
                    <a:latin typeface="Arial"/>
                  </a:rPr>
                  <a:t>bias index B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5F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1F24"/>
                </a:solidFill>
                <a:latin typeface="Arial"/>
              </a:defRPr>
            </a:pPr>
            <a:r>
              <a:rPr lang="pt-BR" sz="1200" b="0" i="0" u="none" strike="noStrike">
                <a:solidFill>
                  <a:srgbClr val="1F1F24"/>
                </a:solidFill>
                <a:latin typeface="Arial"/>
              </a:rPr>
              <a:t>ACE = E[B | do(S)] − E[B]  (negative = bias reduced)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reservoir target</c:v>
                </c:pt>
              </c:strCache>
            </c:strRef>
          </c:tx>
          <c:spPr>
            <a:solidFill>
              <a:srgbClr val="B3123F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F1F24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ablate</c:v>
                </c:pt>
                <c:pt idx="1">
                  <c:v>perturb</c:v>
                </c:pt>
                <c:pt idx="2">
                  <c:v>gate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-0.1017</c:v>
                </c:pt>
                <c:pt idx="1">
                  <c:v>-1.3100000000000001E-2</c:v>
                </c:pt>
                <c:pt idx="2">
                  <c:v>-3.4500000000000003E-2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6E8-4B29-93F3-F0BBFA5926E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random-head control</c:v>
                </c:pt>
              </c:strCache>
            </c:strRef>
          </c:tx>
          <c:spPr>
            <a:solidFill>
              <a:srgbClr val="9AA0A6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F1F24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ablate</c:v>
                </c:pt>
                <c:pt idx="1">
                  <c:v>perturb</c:v>
                </c:pt>
                <c:pt idx="2">
                  <c:v>gate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-1.9900000000000001E-2</c:v>
                </c:pt>
                <c:pt idx="1">
                  <c:v>-6.2700000000000006E-2</c:v>
                </c:pt>
                <c:pt idx="2">
                  <c:v>1.06E-2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6E8-4B29-93F3-F0BBFA5926E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sink-only control</c:v>
                </c:pt>
              </c:strCache>
            </c:strRef>
          </c:tx>
          <c:spPr>
            <a:solidFill>
              <a:srgbClr val="2E7D4F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F1F24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ablate</c:v>
                </c:pt>
                <c:pt idx="1">
                  <c:v>perturb</c:v>
                </c:pt>
                <c:pt idx="2">
                  <c:v>gate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-7.3599999999999999E-2</c:v>
                </c:pt>
                <c:pt idx="1">
                  <c:v>1E-3</c:v>
                </c:pt>
                <c:pt idx="2">
                  <c:v>-4.3799999999999999E-2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6E8-4B29-93F3-F0BBFA5926E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5F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6E6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5F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68086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6E0B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1463040"/>
            <a:ext cx="5943600" cy="5943600"/>
          </a:xfrm>
          <a:prstGeom prst="ellipse">
            <a:avLst/>
          </a:prstGeom>
          <a:solidFill>
            <a:srgbClr val="B3123F"/>
          </a:solidFill>
          <a:ln w="12700">
            <a:solidFill>
              <a:srgbClr val="B3123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146304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Runtime Computational Memory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37744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1D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Emergent Behaviour through KV-Cache Dynamics in Transformer Language Models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840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  ·  23CSE498 Project Phase II  ·  Team D10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2519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1D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Kunal Achintya Reddy  ·  V Sriman Vashishta  ·  Raaghavan M S  ·  B Nithilesh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5943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8B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Dr Thara Shyam  ·  Department of Computer Science and Engineering, Amrita School of Computing, Amritapuri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1 · TracingCache: provenance on every write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stock KV cache is an anonymous tensor — nothing downstream can be attributed without this stamp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6035040" cy="4480560"/>
          </a:xfrm>
          <a:prstGeom prst="roundRect">
            <a:avLst>
              <a:gd name="adj" fmla="val 1633"/>
            </a:avLst>
          </a:prstGeom>
          <a:solidFill>
            <a:srgbClr val="23252B"/>
          </a:solidFill>
          <a:ln w="12700">
            <a:solidFill>
              <a:srgbClr val="23252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691640"/>
            <a:ext cx="576072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TracingCache(ProvenanceMixin):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update(self, key_states, value_states, layer_idx):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# same signature as transformers.DynamicCache.update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self._keys[l]   = cat(self._keys[l],   key_states)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self._values[l] = cat(self._values[l], value_states)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self._keys[l], self._values[l]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stamp(self, token_ids, start_position):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i, tok in enumerate(token_ids):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self.provenance.append(KVProvenance(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position=start_position + i,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turn_idx=self._turn_idx,   # which turn wrote it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agent_id=self._agent_id,   # which agent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channel=self._channel,     # system|probe|agent|peer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token_id=tok))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graft(self, peer, positions, adapter):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# shared-KV arm: transplant, RoPE re-indexed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rotated = adapter.rope_reindex(peer.keys(l)[:, positions],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      positions, new_positions)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858000" y="1600200"/>
            <a:ext cx="4754880" cy="2103120"/>
          </a:xfrm>
          <a:prstGeom prst="roundRect">
            <a:avLst>
              <a:gd name="adj" fmla="val 4348"/>
            </a:avLst>
          </a:prstGeom>
          <a:solidFill>
            <a:srgbClr val="F8F5F6"/>
          </a:solidFill>
          <a:ln w="12700">
            <a:solidFill>
              <a:srgbClr val="F8F5F6"/>
            </a:solidFill>
            <a:prstDash val="solid"/>
          </a:ln>
          <a:effectLst>
            <a:outerShdw blurRad="50800" dist="1905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7040880" y="170992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312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stamped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040880" y="2103120"/>
            <a:ext cx="43891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p_{ℓ,h,t} = (layer, head, position, turn τ, agent a, channel c) — Stage 1 of the methodology, verbatim.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/ head are implied by the slot; materialised when the kvRecord row is written.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HFTracingCache subclasses DynamicCache and stamps inside update() — the production model needs no other change.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858000" y="3886200"/>
            <a:ext cx="4754880" cy="2194560"/>
          </a:xfrm>
          <a:prstGeom prst="roundRect">
            <a:avLst>
              <a:gd name="adj" fmla="val 4167"/>
            </a:avLst>
          </a:prstGeom>
          <a:solidFill>
            <a:srgbClr val="F8F5F6"/>
          </a:solidFill>
          <a:ln w="12700">
            <a:solidFill>
              <a:srgbClr val="F8F5F6"/>
            </a:solidFill>
            <a:prstDash val="solid"/>
          </a:ln>
          <a:effectLst>
            <a:outerShdw blurRad="50800" dist="1905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7040880" y="399592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312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RoPE re-indexing matters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040880" y="4389120"/>
            <a:ext cx="43891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key's rotary phase encodes its absolute position; a transplanted entry must be rotated by Δpos or it lands in the wrong attention geometry.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rotate(p) ∘ rotate(d) = rotate(p+d): one routine both applies RoPE and re-indexes. Verified exact in tests (layer-0 keys match a native write).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1 · Attention tap &amp; the trace store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statistics for every run, raw tensors for a 5 % sample — a Llama-3-8B cache is ~130 KB per token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5486400" cy="2331720"/>
          </a:xfrm>
          <a:prstGeom prst="roundRect">
            <a:avLst>
              <a:gd name="adj" fmla="val 3922"/>
            </a:avLst>
          </a:prstGeom>
          <a:solidFill>
            <a:srgbClr val="F8F5F6"/>
          </a:solidFill>
          <a:ln w="12700">
            <a:solidFill>
              <a:srgbClr val="F8F5F6"/>
            </a:solidFill>
            <a:prstDash val="solid"/>
          </a:ln>
          <a:effectLst>
            <a:outerShdw blurRad="50800" dist="1905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31520" y="170992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312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AttentionTap: reduce as you go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103120"/>
            <a:ext cx="5120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Storing L·H·T² attention weights is impossible; the tap keeps only what Module 2 needs: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alpha_bar[q,t] (head/layer-averaged, T×T) · topk_count[t] · mass[ℓ,h,t] — accumulated per forward step on the compute device.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Eager attention only where weights must be materialised; FlashAttention / SDPA never expose αᵍ,ʰ_q,t.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4114800"/>
            <a:ext cx="5486400" cy="2011680"/>
          </a:xfrm>
          <a:prstGeom prst="roundRect">
            <a:avLst>
              <a:gd name="adj" fmla="val 4545"/>
            </a:avLst>
          </a:prstGeom>
          <a:solidFill>
            <a:srgbClr val="F3EFF0"/>
          </a:solidFill>
          <a:ln w="12700">
            <a:solidFill>
              <a:srgbClr val="F3EFF0"/>
            </a:solidFill>
            <a:prstDash val="solid"/>
          </a:ln>
          <a:effectLst>
            <a:outerShdw blurRad="50800" dist="1905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731520" y="422452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312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Integrity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4617720"/>
            <a:ext cx="5120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manifest.json: config SHA-256, git commit, seeds, library versions.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checksums.json: SHA-256 of every Parquet / SQLite / raw-KV file written.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run: 135 conversations, 8 store files, 0.99 s per conversation on CPU.</a:t>
            </a:r>
            <a:endParaRPr lang="en-US" sz="1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1600200"/>
          <a:ext cx="5349240" cy="244602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12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columns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12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12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conversation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convId PK, model, arm, probeSuite, pressure, seed, nTurns, gitCommit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SQLite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turn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convId FK, turnIdx, agentId, role, tokenStart/End, biasScore, ppl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SQLite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kvRecord (fact)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convId, layer, head, position, turnIdx, agentId, channel, attnMassRecv, reuse, lifetime, persistence, centrality, kNorm, vNorm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Parquet, partitioned by (model, convId)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attnEdge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convId, qPos, kPos, weight — sampled conversations only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Parquet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intervention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runId PK, mode, targetSet, epsilon, deltaBias, deltaPpl, deltaAcc, pValue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SQLite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Text 10"/>
          <p:cNvSpPr txBox="1"/>
          <p:nvPr/>
        </p:nvSpPr>
        <p:spPr>
          <a:xfrm>
            <a:off x="6309360" y="5257800"/>
            <a:ext cx="5349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Cardinalities: conversation 1:N turn, conversation 1:N kvRecord, turn 1:N kvRecord, conversation 1:N intervention. DuckDB queries the Parquet directly.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1 · Multi-agent harness: three memory arms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receiver never sees stereotype content directly — only what the arm lets through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4937760" cy="1097280"/>
          </a:xfrm>
          <a:prstGeom prst="roundRect">
            <a:avLst>
              <a:gd name="adj" fmla="val 8333"/>
            </a:avLst>
          </a:prstGeom>
          <a:solidFill>
            <a:srgbClr val="F8F5F6"/>
          </a:solidFill>
          <a:ln w="12700">
            <a:solidFill>
              <a:srgbClr val="F8F5F6"/>
            </a:solidFill>
            <a:prstDash val="solid"/>
          </a:ln>
          <a:effectLst>
            <a:outerShdw blurRad="50800" dist="1905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31520" y="170992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312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shared-kv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1031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Sender's KV segment for the turn is grafted into the receiver's cache (RoPE re-indexed, channel = peer).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834640"/>
            <a:ext cx="4937760" cy="1097280"/>
          </a:xfrm>
          <a:prstGeom prst="roundRect">
            <a:avLst>
              <a:gd name="adj" fmla="val 8333"/>
            </a:avLst>
          </a:prstGeom>
          <a:solidFill>
            <a:srgbClr val="F8F5F6"/>
          </a:solidFill>
          <a:ln w="12700">
            <a:solidFill>
              <a:srgbClr val="F8F5F6"/>
            </a:solidFill>
            <a:prstDash val="solid"/>
          </a:ln>
          <a:effectLst>
            <a:outerShdw blurRad="50800" dist="1905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731520" y="29443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312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text-only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33375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sender's generated text tokens are appended to the receiver.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4069080"/>
            <a:ext cx="4937760" cy="1097280"/>
          </a:xfrm>
          <a:prstGeom prst="roundRect">
            <a:avLst>
              <a:gd name="adj" fmla="val 8333"/>
            </a:avLst>
          </a:prstGeom>
          <a:solidFill>
            <a:srgbClr val="F8F5F6"/>
          </a:solidFill>
          <a:ln w="12700">
            <a:solidFill>
              <a:srgbClr val="F8F5F6"/>
            </a:solidFill>
            <a:prstDash val="solid"/>
          </a:ln>
          <a:effectLst>
            <a:outerShdw blurRad="50800" dist="1905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731520" y="417880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312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isolated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45720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Control: the agents never interact.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5349240"/>
            <a:ext cx="4937760" cy="777240"/>
          </a:xfrm>
          <a:prstGeom prst="roundRect">
            <a:avLst>
              <a:gd name="adj" fmla="val 11765"/>
            </a:avLst>
          </a:prstGeom>
          <a:solidFill>
            <a:srgbClr val="F8F5F6"/>
          </a:solidFill>
          <a:ln w="12700">
            <a:solidFill>
              <a:srgbClr val="F8F5F6"/>
            </a:solidFill>
            <a:prstDash val="solid"/>
          </a:ln>
          <a:effectLst>
            <a:outerShdw blurRad="50800" dist="1905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731520" y="54589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312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Semantic pressure π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585216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Fraction of the sender's context items that are stereotype-consistent — realised exactly (16 items → 1/16 resolution), not in expectation.</a:t>
            </a:r>
            <a:endParaRPr lang="en-US" sz="1000" dirty="0"/>
          </a:p>
        </p:txBody>
      </p:sp>
      <p:pic>
        <p:nvPicPr>
          <p:cNvPr id="18" name="Image 0" descr="C:\Users\msraa\Downloads\Project Phase\results\figures\fig2_attention_grap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1554480"/>
            <a:ext cx="4480560" cy="3886200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5852160" y="54864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Head-averaged attention of one shared-KV conversation (π = 1). Cyan: novel attractors, green: sink class.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10378440" y="173736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B312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135</a:t>
            </a:r>
            <a:endParaRPr lang="en-US" sz="3400" dirty="0"/>
          </a:p>
        </p:txBody>
      </p:sp>
      <p:sp>
        <p:nvSpPr>
          <p:cNvPr id="21" name="Text 18"/>
          <p:cNvSpPr txBox="1"/>
          <p:nvPr/>
        </p:nvSpPr>
        <p:spPr>
          <a:xfrm>
            <a:off x="10378440" y="242316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conversations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10378440" y="310896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248</a:t>
            </a:r>
            <a:endParaRPr lang="en-US" sz="3400" dirty="0"/>
          </a:p>
        </p:txBody>
      </p:sp>
      <p:sp>
        <p:nvSpPr>
          <p:cNvPr id="23" name="Text 20"/>
          <p:cNvSpPr txBox="1"/>
          <p:nvPr/>
        </p:nvSpPr>
        <p:spPr>
          <a:xfrm>
            <a:off x="10378440" y="379476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/ receiver cache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10378440" y="448056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1.0s</a:t>
            </a:r>
            <a:endParaRPr lang="en-US" sz="3400" dirty="0"/>
          </a:p>
        </p:txBody>
      </p:sp>
      <p:sp>
        <p:nvSpPr>
          <p:cNvPr id="25" name="Text 22"/>
          <p:cNvSpPr txBox="1"/>
          <p:nvPr/>
        </p:nvSpPr>
        <p:spPr>
          <a:xfrm>
            <a:off x="10378440" y="516636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conversation (CPU)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2 · Four metrics and the attractor criterion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conditions must hold jointly; early positions (t ≤ 4) are reported as the known attention-sink class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7315200" cy="914400"/>
          </a:xfrm>
          <a:prstGeom prst="roundRect">
            <a:avLst>
              <a:gd name="adj" fmla="val 8000"/>
            </a:avLst>
          </a:prstGeom>
          <a:solidFill>
            <a:srgbClr val="F8F5F6"/>
          </a:solidFill>
          <a:ln w="12700">
            <a:solidFill>
              <a:srgbClr val="F8F5F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673352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312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KV reuse score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2651760" y="1673352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1F24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R(t) = 1/(T−t) · Σ_{q&gt;t} (q+1)·ᾱ_{q,t}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5349240" y="1673352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 attention scores exactly 1 (0-indexed baseline 1/(q+1)). Attractors score ≫ 1. Unit test: uniform cache → 1.000.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48640" y="2624328"/>
            <a:ext cx="7315200" cy="914400"/>
          </a:xfrm>
          <a:prstGeom prst="roundRect">
            <a:avLst>
              <a:gd name="adj" fmla="val 8000"/>
            </a:avLst>
          </a:prstGeom>
          <a:solidFill>
            <a:srgbClr val="F8F5F6"/>
          </a:solidFill>
          <a:ln w="12700">
            <a:solidFill>
              <a:srgbClr val="F8F5F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269748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312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Memory lifetime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651760" y="269748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1F24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L(t) = max{ q−t : α̃_q(t) &gt; κ · baseline_w(q) }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5349240" y="269748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Trailing window w = 8; baseline smoothed with the same window so uniform attention scores exactly the threshold (lifetime 0).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48640" y="3648456"/>
            <a:ext cx="7315200" cy="914400"/>
          </a:xfrm>
          <a:prstGeom prst="roundRect">
            <a:avLst>
              <a:gd name="adj" fmla="val 8000"/>
            </a:avLst>
          </a:prstGeom>
          <a:solidFill>
            <a:srgbClr val="F8F5F6"/>
          </a:solidFill>
          <a:ln w="12700">
            <a:solidFill>
              <a:srgbClr val="F8F5F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3721608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312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Attention persistence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2651760" y="3721608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1F24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P(t) = 1/((T−t)·L·H) · Σ_q Σ_{ℓ,h} 1[t ∈ TopK_k(αᵍ,ʰ_q,·)]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5349240" y="3721608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8; counted online by the tap with a scatter over the top-k indices, strictly for q &gt; t.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48640" y="4672584"/>
            <a:ext cx="7315200" cy="914400"/>
          </a:xfrm>
          <a:prstGeom prst="roundRect">
            <a:avLst>
              <a:gd name="adj" fmla="val 8000"/>
            </a:avLst>
          </a:prstGeom>
          <a:solidFill>
            <a:srgbClr val="F8F5F6"/>
          </a:solidFill>
          <a:ln w="12700">
            <a:solidFill>
              <a:srgbClr val="F8F5F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1520" y="4745736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312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Centrality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2651760" y="4745736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1F24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c(t) = (1−d)/T + d · Σ_q ᾱ_{q,t}/Σ_{t'} ᾱ_{q,t'} · c(q)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5349240" y="4745736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PageRank, d = 0.85, dangling nodes redistributed. Verified against networkx to 1e-6.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138160" y="1600200"/>
            <a:ext cx="3520440" cy="2011680"/>
          </a:xfrm>
          <a:prstGeom prst="roundRect">
            <a:avLst>
              <a:gd name="adj" fmla="val 4545"/>
            </a:avLst>
          </a:prstGeom>
          <a:solidFill>
            <a:srgbClr val="F8F5F6"/>
          </a:solidFill>
          <a:ln w="12700">
            <a:solidFill>
              <a:srgbClr val="F8F5F6"/>
            </a:solidFill>
            <a:prstDash val="solid"/>
          </a:ln>
          <a:effectLst>
            <a:outerShdw blurRad="50800" dist="1905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8321040" y="170992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312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Memory Attractor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8321040" y="2103120"/>
            <a:ext cx="3154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= { t : z_R(t) &gt; z*  ∧  L(t) &gt; λT  ∧  P(t) &gt; p* }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Pre-registered: z* = 1.0, λ = 0.30, p* = 0.10 — fixed in config before the runs, never tuned after.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138160" y="379476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F3EFF0"/>
          </a:solidFill>
          <a:ln w="12700">
            <a:solidFill>
              <a:srgbClr val="F3EFF0"/>
            </a:solidFill>
            <a:prstDash val="solid"/>
          </a:ln>
          <a:effectLst>
            <a:outerShdw blurRad="50800" dist="1905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8321040" y="390448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312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Sink class held out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8321040" y="4297680"/>
            <a:ext cx="3154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PageRank alone crowns position 0 (a self-loop absorbing node). That is Xiao et al.'s attention sink — already known, so only structures outside t ≤ 4 count as a finding.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2 · Attractors found in the receiver's cache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 persistent structures sit, and are they the sink or something new?</a:t>
            </a:r>
            <a:endParaRPr lang="en-US" sz="14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48640" y="1600200"/>
          <a:ext cx="566928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Chart 1"/>
          <p:cNvGraphicFramePr/>
          <p:nvPr/>
        </p:nvGraphicFramePr>
        <p:xfrm>
          <a:off x="6400800" y="1600200"/>
          <a:ext cx="525780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Shape 4"/>
          <p:cNvSpPr/>
          <p:nvPr/>
        </p:nvSpPr>
        <p:spPr>
          <a:xfrm>
            <a:off x="548640" y="5074920"/>
            <a:ext cx="5669280" cy="1097280"/>
          </a:xfrm>
          <a:prstGeom prst="roundRect">
            <a:avLst>
              <a:gd name="adj" fmla="val 8333"/>
            </a:avLst>
          </a:prstGeom>
          <a:solidFill>
            <a:srgbClr val="F8F5F6"/>
          </a:solidFill>
          <a:ln w="12700">
            <a:solidFill>
              <a:srgbClr val="F8F5F6"/>
            </a:solidFill>
            <a:prstDash val="solid"/>
          </a:ln>
          <a:effectLst>
            <a:outerShdw blurRad="50800" dist="1905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731520" y="5184648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312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Channel of novel attractors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731520" y="557784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system: 12   ·   probe: 47   ·   peer: 51   ·   agent: 61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80.0% of shared-KV conversations contain at least one novel attractor.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6400800" y="5074920"/>
            <a:ext cx="5257800" cy="1097280"/>
          </a:xfrm>
          <a:prstGeom prst="roundRect">
            <a:avLst>
              <a:gd name="adj" fmla="val 8333"/>
            </a:avLst>
          </a:prstGeom>
          <a:solidFill>
            <a:srgbClr val="F3EFF0"/>
          </a:solidFill>
          <a:ln w="12700">
            <a:solidFill>
              <a:srgbClr val="F3EFF0"/>
            </a:solidFill>
            <a:prstDash val="solid"/>
          </a:ln>
          <a:effectLst>
            <a:outerShdw blurRad="50800" dist="1905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6583680" y="5184648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312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Sink vs non-sink (mean reuse score)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6583680" y="5577840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sink class R = 1.45  vs  non-sink R = 1.11;  persistence 0.28 vs 0.12. Sinks are a different regime, not a stronger version of the same thing.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2 · Bias Reservoir localisation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evidence alone is not enough — a head must also causally carry the bias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5120640" cy="2148840"/>
          </a:xfrm>
          <a:prstGeom prst="roundRect">
            <a:avLst>
              <a:gd name="adj" fmla="val 3404"/>
            </a:avLst>
          </a:prstGeom>
          <a:solidFill>
            <a:srgbClr val="23252B"/>
          </a:solidFill>
          <a:ln w="12700">
            <a:solidFill>
              <a:srgbClr val="23252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691640"/>
            <a:ext cx="48463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u[l,h] = mean_{t in A_n} v[l,h,t]       # pool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AUC    = 5-fold CV logistic probe(u-&gt;y)  # y = polarity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     = permutation test (random-head null)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S(l,h) = AUC * max(0, (B - B_abl)/B)     # measured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reservoirs = top-m by S among FDR survivors</a:t>
            </a:r>
            <a:endParaRPr lang="en-US" sz="10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931920"/>
          <a:ext cx="5120640" cy="2112264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12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12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 (BH)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12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ablation effect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12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 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12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reservoir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12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L2 H0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L2 H1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L1 H1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L1 H0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L3 H0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L3 H1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9" name="Image 0" descr="C:\Users\msraa\Downloads\Project Phase\results\figures\fig4_reservoir_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80" y="1600200"/>
            <a:ext cx="5760720" cy="260604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897880" y="4389120"/>
            <a:ext cx="5760720" cy="1737360"/>
          </a:xfrm>
          <a:prstGeom prst="roundRect">
            <a:avLst>
              <a:gd name="adj" fmla="val 5263"/>
            </a:avLst>
          </a:prstGeom>
          <a:solidFill>
            <a:srgbClr val="F3EFF0"/>
          </a:solidFill>
          <a:ln w="12700">
            <a:solidFill>
              <a:srgbClr val="F3EFF0"/>
            </a:solidFill>
            <a:prstDash val="solid"/>
          </a:ln>
          <a:effectLst>
            <a:outerShdw blurRad="50800" dist="1905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7"/>
          <p:cNvSpPr txBox="1"/>
          <p:nvPr/>
        </p:nvSpPr>
        <p:spPr>
          <a:xfrm>
            <a:off x="6080760" y="4498848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312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6080760" y="4892040"/>
            <a:ext cx="5394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of 8 (layer, KV-head) pairs survive BH-FDR and form the reservoir set (labels: B &gt; median(B), n = 135).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 effect is measured by replaying 3 top-pressure shared-KV cells with each head ablated at the 13 novel-attractor target positions.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3 · Memory Contagion, defined as a residual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everything the receiver picks up is explainable by the text it saw, MC is zero by construction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4937760" cy="1371600"/>
          </a:xfrm>
          <a:prstGeom prst="roundRect">
            <a:avLst>
              <a:gd name="adj" fmla="val 5333"/>
            </a:avLst>
          </a:prstGeom>
          <a:solidFill>
            <a:srgbClr val="23252B"/>
          </a:solidFill>
          <a:ln w="12700">
            <a:solidFill>
              <a:srgbClr val="23252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69164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MC(pi) = B_j(S) - B_j(T)    # memory-mediated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TC(pi) = B_j(T) - B_j(C)    # text-mediated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 shared-KV, T text-only, C isolated; j = receiver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20040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B312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+0.231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8862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 at π = 1 (all stereotype)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108960" y="320040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+0.124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3108960" y="38862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 at π = 0 (all counter)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4526280"/>
            <a:ext cx="4937760" cy="1600200"/>
          </a:xfrm>
          <a:prstGeom prst="roundRect">
            <a:avLst>
              <a:gd name="adj" fmla="val 5714"/>
            </a:avLst>
          </a:prstGeom>
          <a:solidFill>
            <a:srgbClr val="F8F5F6"/>
          </a:solidFill>
          <a:ln w="12700">
            <a:solidFill>
              <a:srgbClr val="F8F5F6"/>
            </a:solidFill>
            <a:prstDash val="solid"/>
          </a:ln>
          <a:effectLst>
            <a:outerShdw blurRad="50800" dist="1905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731520" y="463600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312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Statistics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502920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contagion is signed by what the sender saw: shared-KV bias runs +0.341 → +0.495 across π while text-only stays +0.217 → +0.265 and isolated +0.372.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Pooled over π: MC = +0.186 [+0.034, +0.340], TC = -0.125 (Mann-Whitney p = 8.54e-2, n = 45 vs 45).</a:t>
            </a:r>
            <a:endParaRPr lang="en-US" sz="1200" dirty="0"/>
          </a:p>
        </p:txBody>
      </p:sp>
      <p:pic>
        <p:nvPicPr>
          <p:cNvPr id="15" name="Image 0" descr="C:\Users\msraa\Downloads\Project Phase\results\figures\fig5_contag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1600200"/>
            <a:ext cx="5897880" cy="3840480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5760720" y="5532120"/>
            <a:ext cx="5897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Corroboration — transfer entropy sender→receiver (bits): shared 0.005, text-only 0.117, isolated 0.219.  Attractor-set Jaccard overlap (shared-KV, via provenance sourcePosition): 0.105.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3 · Bias versus semantic pressure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Receiver bias index B as the sender's context becomes more stereotype-consistent (mean ± s.e.m. over 5 seeds)</a:t>
            </a:r>
            <a:endParaRPr lang="en-US" sz="14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48640" y="1600200"/>
          <a:ext cx="749808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8321040" y="1600200"/>
            <a:ext cx="3337560" cy="2331720"/>
          </a:xfrm>
          <a:prstGeom prst="roundRect">
            <a:avLst>
              <a:gd name="adj" fmla="val 3922"/>
            </a:avLst>
          </a:prstGeom>
          <a:solidFill>
            <a:srgbClr val="F8F5F6"/>
          </a:solidFill>
          <a:ln w="12700">
            <a:solidFill>
              <a:srgbClr val="F8F5F6"/>
            </a:solidFill>
            <a:prstDash val="solid"/>
          </a:ln>
          <a:effectLst>
            <a:outerShdw blurRad="50800" dist="1905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8503920" y="170992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312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 fit (shared-KV)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8503920" y="2103120"/>
            <a:ext cx="2971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B(π) = B₀ + (B₁ − B₀) / (1 + e^{−κ(π − π_c)})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B₀ = 0.376, B₁ = 0.504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 = 18.45  [1.17, 166.53]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π_c = 0.560  [-0.500, 1.449]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= 0.926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8321040" y="4114800"/>
            <a:ext cx="3337560" cy="2011680"/>
          </a:xfrm>
          <a:prstGeom prst="roundRect">
            <a:avLst>
              <a:gd name="adj" fmla="val 4545"/>
            </a:avLst>
          </a:prstGeom>
          <a:solidFill>
            <a:srgbClr val="F3EFF0"/>
          </a:solidFill>
          <a:ln w="12700">
            <a:solidFill>
              <a:srgbClr val="F3EFF0"/>
            </a:solidFill>
            <a:prstDash val="solid"/>
          </a:ln>
          <a:effectLst>
            <a:outerShdw blurRad="50800" dist="1905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8503920" y="422452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312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the curve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8503920" y="4617720"/>
            <a:ext cx="2971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is flat by construction — it is the weight-level prior.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between shared-KV and text-only at each π is the memory-mediated part.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susceptibility χ = dB/dπ = 0.44 at π_c.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3 · Is it a phase transition? Pre-registered criteria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transition is claimed only if every criterion holds — the checklist was fixed before the runs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822960" cy="310896"/>
          </a:xfrm>
          <a:prstGeom prst="roundRect">
            <a:avLst>
              <a:gd name="adj" fmla="val 50000"/>
            </a:avLst>
          </a:prstGeom>
          <a:solidFill>
            <a:srgbClr val="FBE4E1"/>
          </a:solidFill>
          <a:ln w="12700">
            <a:solidFill>
              <a:srgbClr val="FBE4E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69164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fail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16002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 beats linear null (AIC)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760720" y="160020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 -66.27 vs -67.31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331720"/>
            <a:ext cx="822960" cy="310896"/>
          </a:xfrm>
          <a:prstGeom prst="roundRect">
            <a:avLst>
              <a:gd name="adj" fmla="val 50000"/>
            </a:avLst>
          </a:prstGeom>
          <a:solidFill>
            <a:srgbClr val="FBE4E1"/>
          </a:solidFill>
          <a:ln w="12700">
            <a:solidFill>
              <a:srgbClr val="FBE4E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233172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fail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1554480" y="224028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 beats linear null (BIC)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760720" y="224028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BIC -65.48 vs -66.92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2971800"/>
            <a:ext cx="822960" cy="310896"/>
          </a:xfrm>
          <a:prstGeom prst="roundRect">
            <a:avLst>
              <a:gd name="adj" fmla="val 50000"/>
            </a:avLst>
          </a:prstGeom>
          <a:solidFill>
            <a:srgbClr val="FBE4E1"/>
          </a:solidFill>
          <a:ln w="12700">
            <a:solidFill>
              <a:srgbClr val="FBE4E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297180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fail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1554480" y="288036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κ CI excludes the linear regime (κ ≤ 2)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760720" y="288036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 ∈ [1.17, 166.53]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611880"/>
            <a:ext cx="822960" cy="310896"/>
          </a:xfrm>
          <a:prstGeom prst="roundRect">
            <a:avLst>
              <a:gd name="adj" fmla="val 50000"/>
            </a:avLst>
          </a:prstGeom>
          <a:solidFill>
            <a:srgbClr val="E3F2E8"/>
          </a:solidFill>
          <a:ln w="12700">
            <a:solidFill>
              <a:srgbClr val="E3F2E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361188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pass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1554480" y="352044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Independent changepoint inside CI(π_c)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760720" y="352044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changepoint at π = 0.563; CI(π_c) = [-0.500, 1.449]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4251960"/>
            <a:ext cx="822960" cy="310896"/>
          </a:xfrm>
          <a:prstGeom prst="roundRect">
            <a:avLst>
              <a:gd name="adj" fmla="val 50000"/>
            </a:avLst>
          </a:prstGeom>
          <a:solidFill>
            <a:srgbClr val="E3F2E8"/>
          </a:solidFill>
          <a:ln w="12700">
            <a:solidFill>
              <a:srgbClr val="E3F2E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48640" y="425196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pass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1554480" y="416052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Agreement across ≥ 3 seeds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5760720" y="416052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of 5 seeds support the logistic fit individually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4892040"/>
            <a:ext cx="822960" cy="310896"/>
          </a:xfrm>
          <a:prstGeom prst="roundRect">
            <a:avLst>
              <a:gd name="adj" fmla="val 50000"/>
            </a:avLst>
          </a:prstGeom>
          <a:solidFill>
            <a:srgbClr val="FBE4E1"/>
          </a:solidFill>
          <a:ln w="12700">
            <a:solidFill>
              <a:srgbClr val="FBE4E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48640" y="489204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fail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1554480" y="48006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Replication across ≥ 2 models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5760720" y="480060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model in the testbed run — requires the Llama / Mistral / Qwen sweep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5532120"/>
            <a:ext cx="11109960" cy="548640"/>
          </a:xfrm>
          <a:prstGeom prst="roundRect">
            <a:avLst>
              <a:gd name="adj" fmla="val 16667"/>
            </a:avLst>
          </a:prstGeom>
          <a:solidFill>
            <a:srgbClr val="FFF4E0"/>
          </a:solidFill>
          <a:ln w="12700">
            <a:solidFill>
              <a:srgbClr val="FFF4E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31520" y="553212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 on this testbed: not all criteria hold → no transition claimed. Negative results are reported, not discarded (design §11.7).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4 · Three KV-only edits, seed-matched replay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gradient is taken, no parameter is written — the whole method runs at inference cost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5852160" cy="1051560"/>
          </a:xfrm>
          <a:prstGeom prst="roundRect">
            <a:avLst>
              <a:gd name="adj" fmla="val 8696"/>
            </a:avLst>
          </a:prstGeom>
          <a:solidFill>
            <a:srgbClr val="F8F5F6"/>
          </a:solidFill>
          <a:ln w="12700">
            <a:solidFill>
              <a:srgbClr val="F8F5F6"/>
            </a:solidFill>
            <a:prstDash val="solid"/>
          </a:ln>
          <a:effectLst>
            <a:outerShdw blurRad="50800" dist="1905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31520" y="170992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312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ablate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1031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Pre-softmax logit of every target entry → −∞, then renormalise.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566160" y="17373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0B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scores[h][:, S] = -inf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2788920"/>
            <a:ext cx="5852160" cy="1051560"/>
          </a:xfrm>
          <a:prstGeom prst="roundRect">
            <a:avLst>
              <a:gd name="adj" fmla="val 8696"/>
            </a:avLst>
          </a:prstGeom>
          <a:solidFill>
            <a:srgbClr val="F8F5F6"/>
          </a:solidFill>
          <a:ln w="12700">
            <a:solidFill>
              <a:srgbClr val="F8F5F6"/>
            </a:solidFill>
            <a:prstDash val="solid"/>
          </a:ln>
          <a:effectLst>
            <a:outerShdw blurRad="50800" dist="1905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731520" y="289864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312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perturb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32918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the probe direction out of target value vectors: v ← v − ε(ŵᵀv)ŵ.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566160" y="2926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0B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v_eff[kv, S] = v - eps*(v@w_hat)*w_hat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8640" y="3977640"/>
            <a:ext cx="5852160" cy="1051560"/>
          </a:xfrm>
          <a:prstGeom prst="roundRect">
            <a:avLst>
              <a:gd name="adj" fmla="val 8696"/>
            </a:avLst>
          </a:prstGeom>
          <a:solidFill>
            <a:srgbClr val="F8F5F6"/>
          </a:solidFill>
          <a:ln w="12700">
            <a:solidFill>
              <a:srgbClr val="F8F5F6"/>
            </a:solidFill>
            <a:prstDash val="solid"/>
          </a:ln>
          <a:effectLst>
            <a:outerShdw blurRad="50800" dist="1905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731520" y="408736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312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gate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44805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Rescale attention to the target set by g ∈ [0,1], renormalise. Equivalent to adding log g pre-softmax.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3566160" y="4114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0B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attn[h][:, S] *= g ; attn /= attn.sum()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8640" y="5212080"/>
            <a:ext cx="5852160" cy="960120"/>
          </a:xfrm>
          <a:prstGeom prst="roundRect">
            <a:avLst>
              <a:gd name="adj" fmla="val 9524"/>
            </a:avLst>
          </a:prstGeom>
          <a:solidFill>
            <a:srgbClr val="F3EFF0"/>
          </a:solidFill>
          <a:ln w="12700">
            <a:solidFill>
              <a:srgbClr val="F3EFF0"/>
            </a:solidFill>
            <a:prstDash val="solid"/>
          </a:ln>
          <a:effectLst>
            <a:outerShdw blurRad="50800" dist="1905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731520" y="532180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312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set S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731520" y="5715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heads = reservoir set (4 heads), positions = novel attractors (13) first, then the 32 positions the reservoir heads read most (Figure 2 refinement); GQA-mapped to query heads.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675120" y="1600200"/>
            <a:ext cx="4983480" cy="2194560"/>
          </a:xfrm>
          <a:prstGeom prst="roundRect">
            <a:avLst>
              <a:gd name="adj" fmla="val 4167"/>
            </a:avLst>
          </a:prstGeom>
          <a:solidFill>
            <a:srgbClr val="F8F5F6"/>
          </a:solidFill>
          <a:ln w="12700">
            <a:solidFill>
              <a:srgbClr val="F8F5F6"/>
            </a:solidFill>
            <a:prstDash val="solid"/>
          </a:ln>
          <a:effectLst>
            <a:outerShdw blurRad="50800" dist="1905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6858000" y="1709928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312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Seed-matched replay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858000" y="2103120"/>
            <a:ext cx="46177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conversation is a pure function of (arm, π, seed): the baseline and intervened runs see identical seeds, schedules and context — they differ only in the KV edit.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ACE(S) = E[B | do(S)] − E[B], estimated by paired replay over 15 cells (shared-KV, the three highest pressure levels × 5 seeds).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675120" y="3977640"/>
            <a:ext cx="4983480" cy="2194560"/>
          </a:xfrm>
          <a:prstGeom prst="roundRect">
            <a:avLst>
              <a:gd name="adj" fmla="val 4167"/>
            </a:avLst>
          </a:prstGeom>
          <a:solidFill>
            <a:srgbClr val="F3EFF0"/>
          </a:solidFill>
          <a:ln w="12700">
            <a:solidFill>
              <a:srgbClr val="F3EFF0"/>
            </a:solidFill>
            <a:prstDash val="solid"/>
          </a:ln>
          <a:effectLst>
            <a:outerShdw blurRad="50800" dist="1905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6858000" y="4087368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312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negative controls, one budget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6858000" y="4480560"/>
            <a:ext cx="46177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random-head: same size, heads drawn from the non-reservoir pool.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sink-only: reservoir heads, but only positions t ≤ 4.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Coherence budget: ΔPPL ≤ 5 % and factual accuracy within 2 points — a rejection criterion, never a reported success.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4 · Causal effect vs. negative controls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set 'reservoir-read' (4 heads × 32 positions), 15 paired replay cells; accept only vs. zero, both controls (p &lt; 0.05) and inside the budget</a:t>
            </a:r>
            <a:endParaRPr lang="en-US" sz="14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48640" y="1600200"/>
          <a:ext cx="576072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0" y="1600200"/>
          <a:ext cx="5074920" cy="1338072"/>
        </p:xfrm>
        <a:graphic>
          <a:graphicData uri="http://schemas.openxmlformats.org/drawingml/2006/table">
            <a:tbl>
              <a:tblPr/>
              <a:tblGrid>
                <a:gridCol w="59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12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12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rel. Δ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12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vs 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12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vs random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12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vs sink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12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ΔPPL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12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ΔAcc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12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verdict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12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ablate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-0.102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20.3%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-2.5%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-6.7 pt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perturb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-0.013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0.184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0.169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-0.8%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-1.7 pt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-0.035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6.9%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0.088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-1.4%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-8.3 pt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6583680" y="3154680"/>
            <a:ext cx="5074920" cy="3017520"/>
          </a:xfrm>
          <a:prstGeom prst="roundRect">
            <a:avLst>
              <a:gd name="adj" fmla="val 3030"/>
            </a:avLst>
          </a:prstGeom>
          <a:solidFill>
            <a:srgbClr val="F3EFF0"/>
          </a:solidFill>
          <a:ln w="12700">
            <a:solidFill>
              <a:srgbClr val="F3EFF0"/>
            </a:solidFill>
            <a:prstDash val="solid"/>
          </a:ln>
          <a:effectLst>
            <a:outerShdw blurRad="50800" dist="1905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6766560" y="3264408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312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the table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6766560" y="3657600"/>
            <a:ext cx="470916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edit: ablate, ACE -0.102 (20.3% relative reduction of the receiver's bias index; design target ≥ 20 %).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ablate — budget: dAcc=-0.067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perturb — n.s. vs zero (p=0.184); ≈ random control (p=0.993); ≈ sink control (p=0.169)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— ≈ random control (p=0.088); ≈ sink control (p=0.572); budget: dAcc=-0.083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2 refinement loop: 2 target set(s) tried (novel-attractors ✗, reservoir-read ✗). Under the pre-registered rule this is a reported negative result, not a failure of the method.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4983480"/>
            <a:ext cx="5760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Left: ACE per mode against both negative controls (paired replay). Table: the full acceptance test — the budget columns are rejection criteria, so a bias drop bought with lost factual accuracy is rejected.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4 · Verification, reporting and reproducibility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tested, what we ship, how a reviewer re-runs it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3657600" cy="4526280"/>
          </a:xfrm>
          <a:prstGeom prst="roundRect">
            <a:avLst>
              <a:gd name="adj" fmla="val 2500"/>
            </a:avLst>
          </a:prstGeom>
          <a:solidFill>
            <a:srgbClr val="F8F5F6"/>
          </a:solidFill>
          <a:ln w="12700">
            <a:solidFill>
              <a:srgbClr val="F8F5F6"/>
            </a:solidFill>
            <a:prstDash val="solid"/>
          </a:ln>
          <a:effectLst>
            <a:outerShdw blurRad="50800" dist="1905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31520" y="170992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312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 unit tests on synthetic caches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103120"/>
            <a:ext cx="32918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 cache → R = 1, L = 0; planted attractor → found, sink excluded.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PageRank equals networkx to 1e-6.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Batched training forward == sequential cached forward (3.6e-7).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RoPE re-index exact; graft == native write at layer 0.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 determinism: identical tokens and attention on re-run.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gate(g) ≡ + log g pre-softmax; ablate zeroes only the GQA-mapped heads.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HF path on a random Llama config: HFTracingCache stamps, hooks ablate per head.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fit recovers a planted π_c; rejects linear data; BH-FDR; budget rejection.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89120" y="1600200"/>
            <a:ext cx="3566160" cy="4526280"/>
          </a:xfrm>
          <a:prstGeom prst="roundRect">
            <a:avLst>
              <a:gd name="adj" fmla="val 2564"/>
            </a:avLst>
          </a:prstGeom>
          <a:solidFill>
            <a:srgbClr val="F8F5F6"/>
          </a:solidFill>
          <a:ln w="12700">
            <a:solidFill>
              <a:srgbClr val="F8F5F6"/>
            </a:solidFill>
            <a:prstDash val="solid"/>
          </a:ln>
          <a:effectLst>
            <a:outerShdw blurRad="50800" dist="1905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572000" y="170992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312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Deliverables written by run_all.py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2103120"/>
            <a:ext cx="32004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results/manifest.json — config SHA-256, git commit, seeds, versions.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results/traces/ — Parquet fact table, SQLite index, checksums.json, 5 % raw-KV sample.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results/results.json — every number in this deck.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results/figures/*.png — 6 publication figures.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results/dashboard.html — Plotly dashboard: attention flow, attractor timeline, reservoir map, curves, interventions.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rcm/report/api.py — FastAPI read-only service (/conversations, /heads/reservoir-ranking, /contagion, /replay), localhost only.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38160" y="160020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F3EFF0"/>
          </a:solidFill>
          <a:ln w="12700">
            <a:solidFill>
              <a:srgbClr val="F3EFF0"/>
            </a:solidFill>
            <a:prstDash val="solid"/>
          </a:ln>
          <a:effectLst>
            <a:outerShdw blurRad="50800" dist="1905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321040" y="170992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312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Reproduce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2103120"/>
            <a:ext cx="31546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-m pytest tests -q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run_all.py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wall-clock this run: 11 min on a 6-thread CPU, no GPU.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138160" y="3886200"/>
            <a:ext cx="3520440" cy="2240280"/>
          </a:xfrm>
          <a:prstGeom prst="roundRect">
            <a:avLst>
              <a:gd name="adj" fmla="val 4082"/>
            </a:avLst>
          </a:prstGeom>
          <a:solidFill>
            <a:srgbClr val="F8F5F6"/>
          </a:solidFill>
          <a:ln w="12700">
            <a:solidFill>
              <a:srgbClr val="F8F5F6"/>
            </a:solidFill>
            <a:prstDash val="solid"/>
          </a:ln>
          <a:effectLst>
            <a:outerShdw blurRad="50800" dist="1905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8321040" y="399592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312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Non-functional (design §10)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4389120"/>
            <a:ext cx="3154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Reliability: all RNG sources seeded; deterministic algorithms on.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Security: no public listener; hashed manifests; no secrets in code.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Maintainability: one adapter file per architecture; Hydra-style YAML config.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3001</Words>
  <Application>Microsoft Office PowerPoint</Application>
  <PresentationFormat>Widescreen</PresentationFormat>
  <Paragraphs>317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Cambria</vt:lpstr>
      <vt:lpstr>Cambria Math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Amrita School of Computing, Amritapuri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Runtime Computational Memory - Code Review</dc:title>
  <dc:subject>23CSE498 Project Phase II - Code Review</dc:subject>
  <dc:creator>Team D10</dc:creator>
  <cp:lastModifiedBy>Sudhakar Mylapore</cp:lastModifiedBy>
  <cp:revision>2</cp:revision>
  <dcterms:created xsi:type="dcterms:W3CDTF">2026-09-12T09:51:55Z</dcterms:created>
  <dcterms:modified xsi:type="dcterms:W3CDTF">2026-09-12T09:56:23Z</dcterms:modified>
</cp:coreProperties>
</file>